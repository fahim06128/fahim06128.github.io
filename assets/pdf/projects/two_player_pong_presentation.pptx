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74" r:id="rId4"/>
    <p:sldId id="27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07" r:id="rId13"/>
    <p:sldId id="306" r:id="rId14"/>
    <p:sldId id="299" r:id="rId15"/>
    <p:sldId id="300" r:id="rId16"/>
    <p:sldId id="275" r:id="rId17"/>
    <p:sldId id="298" r:id="rId18"/>
    <p:sldId id="301" r:id="rId19"/>
    <p:sldId id="309" r:id="rId20"/>
    <p:sldId id="303" r:id="rId21"/>
    <p:sldId id="302" r:id="rId22"/>
    <p:sldId id="304" r:id="rId23"/>
    <p:sldId id="305" r:id="rId24"/>
    <p:sldId id="290" r:id="rId25"/>
    <p:sldId id="273" r:id="rId26"/>
  </p:sldIdLst>
  <p:sldSz cx="18288000" cy="10287000"/>
  <p:notesSz cx="6858000" cy="9144000"/>
  <p:embeddedFontLst>
    <p:embeddedFont>
      <p:font typeface="Public Sans" panose="020B0604020202020204" charset="0"/>
      <p:regular r:id="rId27"/>
    </p:embeddedFont>
    <p:embeddedFont>
      <p:font typeface="Public Sans Bold" panose="020B0604020202020204" charset="0"/>
      <p:regular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Helvetica" panose="020B0604020202020204" pitchFamily="34" charset="0"/>
      <p:regular r:id="rId33"/>
      <p:bold r:id="rId34"/>
      <p:italic r:id="rId35"/>
      <p:boldItalic r:id="rId36"/>
    </p:embeddedFont>
    <p:embeddedFont>
      <p:font typeface="Playfair Display" panose="020B0604020202020204" charset="0"/>
      <p:regular r:id="rId37"/>
      <p:bold r:id="rId38"/>
      <p:italic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Cambria Math" panose="02040503050406030204" pitchFamily="18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90D5B2-4D31-446B-A9EA-58AA1583B51D}">
          <p14:sldIdLst>
            <p14:sldId id="256"/>
            <p14:sldId id="258"/>
            <p14:sldId id="274"/>
            <p14:sldId id="279"/>
            <p14:sldId id="310"/>
            <p14:sldId id="311"/>
            <p14:sldId id="312"/>
            <p14:sldId id="313"/>
            <p14:sldId id="314"/>
            <p14:sldId id="315"/>
            <p14:sldId id="316"/>
            <p14:sldId id="307"/>
            <p14:sldId id="306"/>
            <p14:sldId id="299"/>
            <p14:sldId id="300"/>
            <p14:sldId id="275"/>
            <p14:sldId id="298"/>
            <p14:sldId id="301"/>
            <p14:sldId id="309"/>
            <p14:sldId id="303"/>
            <p14:sldId id="302"/>
            <p14:sldId id="304"/>
            <p14:sldId id="305"/>
            <p14:sldId id="290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528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288" userDrawn="1">
          <p15:clr>
            <a:srgbClr val="A4A3A4"/>
          </p15:clr>
        </p15:guide>
        <p15:guide id="4" orient="horz" pos="1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93" autoAdjust="0"/>
    <p:restoredTop sz="94648" autoAdjust="0"/>
  </p:normalViewPr>
  <p:slideViewPr>
    <p:cSldViewPr>
      <p:cViewPr varScale="1">
        <p:scale>
          <a:sx n="44" d="100"/>
          <a:sy n="44" d="100"/>
        </p:scale>
        <p:origin x="64" y="48"/>
      </p:cViewPr>
      <p:guideLst>
        <p:guide orient="horz" pos="3528"/>
        <p:guide pos="672"/>
        <p:guide pos="288"/>
        <p:guide orient="horz" pos="1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06882" y="4728792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FINAL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1A89129-BAAC-4B81-86FA-5407ED59D51B}"/>
              </a:ext>
            </a:extLst>
          </p:cNvPr>
          <p:cNvSpPr txBox="1"/>
          <p:nvPr/>
        </p:nvSpPr>
        <p:spPr>
          <a:xfrm>
            <a:off x="838200" y="1292259"/>
            <a:ext cx="1566628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600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Two Player Pong Game Using Verilog on CPLD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xmlns="" id="{1B5511C8-DDCB-4028-8C26-CFC028432ABF}"/>
              </a:ext>
            </a:extLst>
          </p:cNvPr>
          <p:cNvSpPr txBox="1"/>
          <p:nvPr/>
        </p:nvSpPr>
        <p:spPr>
          <a:xfrm>
            <a:off x="1016407" y="6850053"/>
            <a:ext cx="3555593" cy="1446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6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Nafis Sadik</a:t>
            </a:r>
          </a:p>
          <a:p>
            <a:pPr algn="l">
              <a:lnSpc>
                <a:spcPts val="3919"/>
              </a:lnSpc>
            </a:pPr>
            <a:r>
              <a:rPr lang="en-US" sz="2600" dirty="0">
                <a:solidFill>
                  <a:srgbClr val="2B2C3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Lecturer</a:t>
            </a:r>
            <a:r>
              <a:rPr lang="en-US" sz="2600" i="0" dirty="0">
                <a:effectLst/>
                <a:latin typeface="Public Sans" panose="020B0604020202020204" charset="0"/>
                <a:cs typeface="Helvetica" panose="020B0604020202020204" pitchFamily="34" charset="0"/>
              </a:rPr>
              <a:t> </a:t>
            </a:r>
            <a:r>
              <a:rPr lang="en-US" sz="2600" i="0" dirty="0">
                <a:solidFill>
                  <a:srgbClr val="2B2C30"/>
                </a:solidFill>
                <a:effectLst/>
                <a:latin typeface="Public Sans" panose="020B0604020202020204" charset="0"/>
                <a:cs typeface="Helvetica" panose="020B0604020202020204" pitchFamily="34" charset="0"/>
              </a:rPr>
              <a:t>•EEE</a:t>
            </a:r>
            <a:br>
              <a:rPr lang="en-US" sz="2600" i="0" dirty="0">
                <a:solidFill>
                  <a:srgbClr val="2B2C30"/>
                </a:solidFill>
                <a:effectLst/>
                <a:latin typeface="Public Sans" panose="020B0604020202020204" charset="0"/>
                <a:cs typeface="Helvetica" panose="020B0604020202020204" pitchFamily="34" charset="0"/>
              </a:rPr>
            </a:br>
            <a:r>
              <a:rPr lang="en-US" sz="2600" i="0" dirty="0">
                <a:solidFill>
                  <a:srgbClr val="2B2C30"/>
                </a:solidFill>
                <a:effectLst/>
                <a:latin typeface="Public Sans" panose="020B0604020202020204" charset="0"/>
                <a:cs typeface="Helvetica" panose="020B0604020202020204" pitchFamily="34" charset="0"/>
              </a:rPr>
              <a:t>BUET</a:t>
            </a:r>
            <a:endParaRPr lang="en-US" sz="2600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7D0B4AE9-5523-4894-9D72-3F49A648F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4097000" y="8925863"/>
            <a:ext cx="3979726" cy="768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C780322-633A-45CA-8D29-560AE07E21C8}"/>
              </a:ext>
            </a:extLst>
          </p:cNvPr>
          <p:cNvSpPr txBox="1"/>
          <p:nvPr/>
        </p:nvSpPr>
        <p:spPr>
          <a:xfrm>
            <a:off x="914400" y="6103661"/>
            <a:ext cx="9144000" cy="664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20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Presented To: </a:t>
            </a:r>
            <a:endParaRPr lang="en-US" sz="3720" dirty="0"/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xmlns="" id="{1ACB924E-6137-459C-96EF-3DBDF31733EE}"/>
              </a:ext>
            </a:extLst>
          </p:cNvPr>
          <p:cNvSpPr/>
          <p:nvPr/>
        </p:nvSpPr>
        <p:spPr>
          <a:xfrm flipV="1">
            <a:off x="1028706" y="6768457"/>
            <a:ext cx="6199699" cy="1256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xmlns="" id="{538D2688-2A21-47AF-B6BB-4C10894DBA6B}"/>
              </a:ext>
            </a:extLst>
          </p:cNvPr>
          <p:cNvSpPr txBox="1"/>
          <p:nvPr/>
        </p:nvSpPr>
        <p:spPr>
          <a:xfrm>
            <a:off x="1028706" y="8460775"/>
            <a:ext cx="3555593" cy="1457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600" b="1" dirty="0" err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Raficcha</a:t>
            </a:r>
            <a:r>
              <a:rPr lang="en-US" sz="26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Yasmin</a:t>
            </a:r>
          </a:p>
          <a:p>
            <a:pPr algn="l">
              <a:lnSpc>
                <a:spcPts val="3919"/>
              </a:lnSpc>
            </a:pPr>
            <a:r>
              <a:rPr lang="en-US" sz="2600" dirty="0">
                <a:solidFill>
                  <a:srgbClr val="2B2C3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Adjunct Lecturer</a:t>
            </a:r>
            <a:r>
              <a:rPr lang="en-US" sz="2600" i="0" dirty="0">
                <a:effectLst/>
                <a:latin typeface="Public Sans" panose="020B0604020202020204" charset="0"/>
                <a:cs typeface="Helvetica" panose="020B0604020202020204" pitchFamily="34" charset="0"/>
              </a:rPr>
              <a:t> </a:t>
            </a:r>
            <a:r>
              <a:rPr lang="en-US" sz="2600" i="0" dirty="0">
                <a:solidFill>
                  <a:srgbClr val="2B2C30"/>
                </a:solidFill>
                <a:effectLst/>
                <a:latin typeface="Public Sans" panose="020B0604020202020204" charset="0"/>
                <a:cs typeface="Helvetica" panose="020B0604020202020204" pitchFamily="34" charset="0"/>
              </a:rPr>
              <a:t>•EEE</a:t>
            </a:r>
            <a:br>
              <a:rPr lang="en-US" sz="2600" i="0" dirty="0">
                <a:solidFill>
                  <a:srgbClr val="2B2C30"/>
                </a:solidFill>
                <a:effectLst/>
                <a:latin typeface="Public Sans" panose="020B0604020202020204" charset="0"/>
                <a:cs typeface="Helvetica" panose="020B0604020202020204" pitchFamily="34" charset="0"/>
              </a:rPr>
            </a:br>
            <a:r>
              <a:rPr lang="en-US" sz="2600" i="0" dirty="0">
                <a:solidFill>
                  <a:srgbClr val="2B2C30"/>
                </a:solidFill>
                <a:effectLst/>
                <a:latin typeface="Public Sans" panose="020B0604020202020204" charset="0"/>
                <a:cs typeface="Helvetica" panose="020B0604020202020204" pitchFamily="34" charset="0"/>
              </a:rPr>
              <a:t>BUET</a:t>
            </a:r>
            <a:endParaRPr lang="en-US" sz="2600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OBJECTIVE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62000" y="2103836"/>
            <a:ext cx="7877184" cy="250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Pick up objects (pallets) and drop them on movable drop-off zones</a:t>
            </a:r>
          </a:p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Avoid both static and dynamic obstacles along its path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1BD5DAB-5442-4ABD-A456-21B9AD9E3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171" y="2095500"/>
            <a:ext cx="7879635" cy="49590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STEPS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xmlns="" id="{E316861C-B296-40B9-8843-BC701FE51A9C}"/>
              </a:ext>
            </a:extLst>
          </p:cNvPr>
          <p:cNvSpPr txBox="1"/>
          <p:nvPr/>
        </p:nvSpPr>
        <p:spPr>
          <a:xfrm>
            <a:off x="762000" y="2097305"/>
            <a:ext cx="14592312" cy="607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Designing a robot that will be able to pick and drop objects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C536AB3F-C4D8-45E6-9295-9D64E9EE88E5}"/>
              </a:ext>
            </a:extLst>
          </p:cNvPr>
          <p:cNvSpPr txBox="1"/>
          <p:nvPr/>
        </p:nvSpPr>
        <p:spPr>
          <a:xfrm>
            <a:off x="762000" y="2865124"/>
            <a:ext cx="14592312" cy="607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Taking live feed from an overhead camera and processing it in a central PC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xmlns="" id="{980A7182-B2F1-4B47-9C2C-34CB2E90FB61}"/>
              </a:ext>
            </a:extLst>
          </p:cNvPr>
          <p:cNvSpPr txBox="1"/>
          <p:nvPr/>
        </p:nvSpPr>
        <p:spPr>
          <a:xfrm>
            <a:off x="762000" y="3632943"/>
            <a:ext cx="14592312" cy="607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Using OpenCV to localize the robot, objects and drop off zones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xmlns="" id="{E141DE03-9DBD-4349-9C84-FFCD4574C8B7}"/>
              </a:ext>
            </a:extLst>
          </p:cNvPr>
          <p:cNvSpPr txBox="1"/>
          <p:nvPr/>
        </p:nvSpPr>
        <p:spPr>
          <a:xfrm>
            <a:off x="762000" y="4400762"/>
            <a:ext cx="14592312" cy="607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Using pathfinding algorithm to find the most optimal path around obstacles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xmlns="" id="{B59FEDCF-1663-4B1B-BF13-9A142B4EFF8F}"/>
              </a:ext>
            </a:extLst>
          </p:cNvPr>
          <p:cNvSpPr txBox="1"/>
          <p:nvPr/>
        </p:nvSpPr>
        <p:spPr>
          <a:xfrm>
            <a:off x="762000" y="5168581"/>
            <a:ext cx="14592312" cy="607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Commanding the robot from central PC using a communication protocol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xmlns="" id="{3B454627-BFEA-4513-9E2D-040FC6AD0B6C}"/>
              </a:ext>
            </a:extLst>
          </p:cNvPr>
          <p:cNvSpPr txBox="1"/>
          <p:nvPr/>
        </p:nvSpPr>
        <p:spPr>
          <a:xfrm>
            <a:off x="762000" y="5936399"/>
            <a:ext cx="14592312" cy="607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Commanding the robot from central PC using a communication protocol</a:t>
            </a:r>
          </a:p>
        </p:txBody>
      </p:sp>
    </p:spTree>
    <p:extLst>
      <p:ext uri="{BB962C8B-B14F-4D97-AF65-F5344CB8AC3E}">
        <p14:creationId xmlns:p14="http://schemas.microsoft.com/office/powerpoint/2010/main" val="392260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">
            <a:extLst>
              <a:ext uri="{FF2B5EF4-FFF2-40B4-BE49-F238E27FC236}">
                <a16:creationId xmlns:a16="http://schemas.microsoft.com/office/drawing/2014/main" xmlns="" id="{5E468B14-A357-4E76-91C0-5C886F5362AB}"/>
              </a:ext>
            </a:extLst>
          </p:cNvPr>
          <p:cNvSpPr txBox="1"/>
          <p:nvPr/>
        </p:nvSpPr>
        <p:spPr>
          <a:xfrm>
            <a:off x="1167397" y="4143624"/>
            <a:ext cx="15953207" cy="103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9600" spc="3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Game Display</a:t>
            </a:r>
          </a:p>
        </p:txBody>
      </p:sp>
    </p:spTree>
    <p:extLst>
      <p:ext uri="{BB962C8B-B14F-4D97-AF65-F5344CB8AC3E}">
        <p14:creationId xmlns:p14="http://schemas.microsoft.com/office/powerpoint/2010/main" val="1519287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89"/>
            <a:ext cx="18287999" cy="102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0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849"/>
            <a:ext cx="18244039" cy="1031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5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6849"/>
            <a:ext cx="18288000" cy="1034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15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"/>
            <a:ext cx="18328820" cy="1026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32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485"/>
            <a:ext cx="18288000" cy="1034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5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64139"/>
            <a:ext cx="18288000" cy="1041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71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xmlns="" id="{2B5D21E2-0ABF-968D-E94D-BDA429677A03}"/>
              </a:ext>
            </a:extLst>
          </p:cNvPr>
          <p:cNvSpPr txBox="1"/>
          <p:nvPr/>
        </p:nvSpPr>
        <p:spPr>
          <a:xfrm>
            <a:off x="1167397" y="4143624"/>
            <a:ext cx="15953207" cy="103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9600" spc="3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Game Mechanics</a:t>
            </a:r>
          </a:p>
        </p:txBody>
      </p:sp>
    </p:spTree>
    <p:extLst>
      <p:ext uri="{BB962C8B-B14F-4D97-AF65-F5344CB8AC3E}">
        <p14:creationId xmlns:p14="http://schemas.microsoft.com/office/powerpoint/2010/main" val="1452240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2F5AA68-5B90-C5CD-ADF6-FEF43FFF1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BE9E78F5-E5E5-D5CA-51EF-AA0EA3FB5A0F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GAME CLOCK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FE5F1B8F-7C03-FBFE-BCD5-085EFD986289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xmlns="" id="{6C611C81-73D1-8DFD-FD05-B76509658FD2}"/>
                  </a:ext>
                </a:extLst>
              </p:cNvPr>
              <p:cNvSpPr txBox="1"/>
              <p:nvPr/>
            </p:nvSpPr>
            <p:spPr>
              <a:xfrm>
                <a:off x="762000" y="2097305"/>
                <a:ext cx="14592312" cy="6077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759459" lvl="1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>
                    <a:solidFill>
                      <a:srgbClr val="2B2C30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Clock for paddle and ball movement brought down to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2B2C30"/>
                        </a:solidFill>
                        <a:latin typeface="Cambria Math" panose="02040503050406030204" pitchFamily="18" charset="0"/>
                        <a:ea typeface="Public Sans"/>
                        <a:cs typeface="Public Sans"/>
                        <a:sym typeface="Public Sans"/>
                      </a:rPr>
                      <m:t>≈5 </m:t>
                    </m:r>
                    <m:r>
                      <a:rPr lang="en-US" sz="3000" b="0" i="1" smtClean="0">
                        <a:solidFill>
                          <a:srgbClr val="2B2C30"/>
                        </a:solidFill>
                        <a:latin typeface="Cambria Math" panose="02040503050406030204" pitchFamily="18" charset="0"/>
                        <a:ea typeface="Public Sans"/>
                        <a:cs typeface="Public Sans"/>
                        <a:sym typeface="Public Sans"/>
                      </a:rPr>
                      <m:t>𝐻𝑧</m:t>
                    </m:r>
                  </m:oMath>
                </a14:m>
                <a:endParaRPr lang="en-US" sz="3000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6C611C81-73D1-8DFD-FD05-B76509658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097305"/>
                <a:ext cx="14592312" cy="607795"/>
              </a:xfrm>
              <a:prstGeom prst="rect">
                <a:avLst/>
              </a:prstGeom>
              <a:blipFill>
                <a:blip r:embed="rId2"/>
                <a:stretch>
                  <a:fillRect b="-37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C8047DE-B3C0-CE70-2C19-5F08F9A22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993468"/>
            <a:ext cx="9729716" cy="50247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xmlns="" id="{8327D01A-6542-B7F4-8D42-D27A5A17A144}"/>
                  </a:ext>
                </a:extLst>
              </p:cNvPr>
              <p:cNvSpPr txBox="1"/>
              <p:nvPr/>
            </p:nvSpPr>
            <p:spPr>
              <a:xfrm>
                <a:off x="762000" y="8306572"/>
                <a:ext cx="14592312" cy="6161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759459" lvl="1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>
                    <a:solidFill>
                      <a:srgbClr val="2B2C30"/>
                    </a:solidFill>
                    <a:latin typeface="Consolas" panose="020B0609020204030204" pitchFamily="49" charset="0"/>
                    <a:ea typeface="Public Sans"/>
                    <a:cs typeface="Public Sans"/>
                    <a:sym typeface="Public Sans"/>
                  </a:rPr>
                  <a:t>counter_0</a:t>
                </a:r>
                <a:r>
                  <a:rPr lang="en-US" sz="3000" dirty="0">
                    <a:solidFill>
                      <a:srgbClr val="2B2C30"/>
                    </a:solidFill>
                    <a:latin typeface="Public Sans"/>
                    <a:ea typeface="Public Sans"/>
                    <a:cs typeface="Public Sans"/>
                    <a:sym typeface="Public Sans"/>
                  </a:rPr>
                  <a:t> updates at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solidFill>
                          <a:srgbClr val="2B2C30"/>
                        </a:solidFill>
                        <a:latin typeface="Cambria Math" panose="02040503050406030204" pitchFamily="18" charset="0"/>
                        <a:ea typeface="Public Sans"/>
                        <a:cs typeface="Public Sans"/>
                        <a:sym typeface="Public Sans"/>
                      </a:rPr>
                      <m:t>5</m:t>
                    </m:r>
                    <m:r>
                      <a:rPr lang="en-US" sz="3000" b="0" i="1" dirty="0" smtClean="0">
                        <a:solidFill>
                          <a:srgbClr val="2B2C30"/>
                        </a:solidFill>
                        <a:latin typeface="Cambria Math" panose="02040503050406030204" pitchFamily="18" charset="0"/>
                        <a:ea typeface="Public Sans"/>
                        <a:cs typeface="Public Sans"/>
                        <a:sym typeface="Public Sans"/>
                      </a:rPr>
                      <m:t>𝑀</m:t>
                    </m:r>
                    <m:r>
                      <a:rPr lang="en-US" sz="3000" i="1" dirty="0" smtClean="0">
                        <a:solidFill>
                          <a:srgbClr val="2B2C30"/>
                        </a:solidFill>
                        <a:latin typeface="Cambria Math" panose="02040503050406030204" pitchFamily="18" charset="0"/>
                        <a:ea typeface="Public Sans"/>
                        <a:cs typeface="Public Sans"/>
                        <a:sym typeface="Public Sans"/>
                      </a:rPr>
                      <m:t>𝐻𝑧</m:t>
                    </m:r>
                  </m:oMath>
                </a14:m>
                <a:endParaRPr lang="en-US" sz="3000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327D01A-6542-B7F4-8D42-D27A5A17A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8306572"/>
                <a:ext cx="14592312" cy="616131"/>
              </a:xfrm>
              <a:prstGeom prst="rect">
                <a:avLst/>
              </a:prstGeom>
              <a:blipFill>
                <a:blip r:embed="rId4"/>
                <a:stretch>
                  <a:fillRect b="-36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81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69BB6A1-52A4-FDD5-ECD4-8942355F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56080D67-07B8-4A2E-1697-5B05B541C7E3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START AND RESET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EAA069E8-B3BD-4FC9-6EC0-04191A207C61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close-up of a black and white dot&#10;&#10;Description automatically generated">
            <a:extLst>
              <a:ext uri="{FF2B5EF4-FFF2-40B4-BE49-F238E27FC236}">
                <a16:creationId xmlns:a16="http://schemas.microsoft.com/office/drawing/2014/main" xmlns="" id="{EAFAED1E-4A4A-16B2-411C-FE7C45A27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7" t="16667" r="17027" b="16667"/>
          <a:stretch/>
        </p:blipFill>
        <p:spPr>
          <a:xfrm>
            <a:off x="1433594" y="2723933"/>
            <a:ext cx="5334000" cy="5334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xmlns="" id="{AE332658-BC7E-381E-0557-8961448C290C}"/>
              </a:ext>
            </a:extLst>
          </p:cNvPr>
          <p:cNvSpPr/>
          <p:nvPr/>
        </p:nvSpPr>
        <p:spPr>
          <a:xfrm>
            <a:off x="4176794" y="5470202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1960D634-3043-8950-C2D0-9364BA795972}"/>
              </a:ext>
            </a:extLst>
          </p:cNvPr>
          <p:cNvCxnSpPr/>
          <p:nvPr/>
        </p:nvCxnSpPr>
        <p:spPr>
          <a:xfrm>
            <a:off x="1128794" y="4379188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6D24D853-E81F-8352-A953-90CC6FBB85EB}"/>
              </a:ext>
            </a:extLst>
          </p:cNvPr>
          <p:cNvCxnSpPr>
            <a:cxnSpLocks/>
          </p:cNvCxnSpPr>
          <p:nvPr/>
        </p:nvCxnSpPr>
        <p:spPr>
          <a:xfrm rot="-5400000">
            <a:off x="4165084" y="1446294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xmlns="" id="{824B89B4-5FA4-083F-9C7F-5318DB94FA9F}"/>
                  </a:ext>
                </a:extLst>
              </p:cNvPr>
              <p:cNvSpPr txBox="1"/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𝑦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24B89B4-5FA4-083F-9C7F-5318DB94F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xmlns="" id="{9D43B6FD-A171-6B3B-8411-BD41EB3778A7}"/>
                  </a:ext>
                </a:extLst>
              </p:cNvPr>
              <p:cNvSpPr txBox="1"/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𝑥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9D43B6FD-A171-6B3B-8411-BD41EB377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xmlns="" id="{D488EB6C-906B-4804-604A-D874BF8ABDC1}"/>
              </a:ext>
            </a:extLst>
          </p:cNvPr>
          <p:cNvSpPr/>
          <p:nvPr/>
        </p:nvSpPr>
        <p:spPr>
          <a:xfrm>
            <a:off x="1508289" y="4112488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8F887DCB-EB2B-1F6B-9168-131F0CBB4AC3}"/>
              </a:ext>
            </a:extLst>
          </p:cNvPr>
          <p:cNvSpPr/>
          <p:nvPr/>
        </p:nvSpPr>
        <p:spPr>
          <a:xfrm>
            <a:off x="1508289" y="4762500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4C37BDD1-BD04-E4AE-BBBA-E7E2CEE11E87}"/>
              </a:ext>
            </a:extLst>
          </p:cNvPr>
          <p:cNvSpPr/>
          <p:nvPr/>
        </p:nvSpPr>
        <p:spPr>
          <a:xfrm>
            <a:off x="1508289" y="5470202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90DE80A3-52AC-A3BB-C29A-8B8BF2D79796}"/>
              </a:ext>
            </a:extLst>
          </p:cNvPr>
          <p:cNvCxnSpPr>
            <a:cxnSpLocks/>
          </p:cNvCxnSpPr>
          <p:nvPr/>
        </p:nvCxnSpPr>
        <p:spPr>
          <a:xfrm flipH="1">
            <a:off x="3707389" y="5736902"/>
            <a:ext cx="786409" cy="76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FC3A9735-AD03-2EC1-E8B4-8E7908CDB485}"/>
              </a:ext>
            </a:extLst>
          </p:cNvPr>
          <p:cNvSpPr/>
          <p:nvPr/>
        </p:nvSpPr>
        <p:spPr>
          <a:xfrm>
            <a:off x="6172200" y="4112488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B64DA6A0-B270-65BA-9375-7325F5097893}"/>
              </a:ext>
            </a:extLst>
          </p:cNvPr>
          <p:cNvSpPr/>
          <p:nvPr/>
        </p:nvSpPr>
        <p:spPr>
          <a:xfrm>
            <a:off x="6172200" y="4762500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DB7EFA79-F165-C367-420F-415F3076EBF7}"/>
              </a:ext>
            </a:extLst>
          </p:cNvPr>
          <p:cNvSpPr/>
          <p:nvPr/>
        </p:nvSpPr>
        <p:spPr>
          <a:xfrm>
            <a:off x="6172200" y="5470202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D2B7E47B-C5F3-55BC-801D-4B40EBEF0D13}"/>
              </a:ext>
            </a:extLst>
          </p:cNvPr>
          <p:cNvCxnSpPr>
            <a:cxnSpLocks/>
          </p:cNvCxnSpPr>
          <p:nvPr/>
        </p:nvCxnSpPr>
        <p:spPr>
          <a:xfrm rot="10800000" flipH="1">
            <a:off x="4446862" y="5729282"/>
            <a:ext cx="786409" cy="76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53FF02D4-79CD-0F7F-B0D3-3BF9F4A93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998" y="2723933"/>
            <a:ext cx="8765001" cy="532047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AEB1ACB2-86E2-29EA-412D-CA3AEA200D8D}"/>
              </a:ext>
            </a:extLst>
          </p:cNvPr>
          <p:cNvSpPr/>
          <p:nvPr/>
        </p:nvSpPr>
        <p:spPr>
          <a:xfrm>
            <a:off x="9525000" y="5600700"/>
            <a:ext cx="3505200" cy="137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6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727CCE8-74E0-1554-8EA5-8B2D628E1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B4D60067-846D-2A93-B026-093775A5F5F5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PADDLE CONTROL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B3A3E122-3A1B-616B-F4C2-20AAEC7A1D76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DD5FE99-A307-AF32-6FE3-F2B9EFFF96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79" t="4452" r="2942" b="3164"/>
          <a:stretch/>
        </p:blipFill>
        <p:spPr>
          <a:xfrm>
            <a:off x="1066800" y="2095500"/>
            <a:ext cx="6781800" cy="4985333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xmlns="" id="{C5635908-A162-ECD8-1E8F-8F8927F288AA}"/>
              </a:ext>
            </a:extLst>
          </p:cNvPr>
          <p:cNvSpPr txBox="1"/>
          <p:nvPr/>
        </p:nvSpPr>
        <p:spPr>
          <a:xfrm>
            <a:off x="1066800" y="2552700"/>
            <a:ext cx="145692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rgbClr val="C00000"/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Up_p1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8B0446A8-964F-0346-5BC5-55C40539EF58}"/>
              </a:ext>
            </a:extLst>
          </p:cNvPr>
          <p:cNvSpPr txBox="1"/>
          <p:nvPr/>
        </p:nvSpPr>
        <p:spPr>
          <a:xfrm>
            <a:off x="4724400" y="2552699"/>
            <a:ext cx="145692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rgbClr val="C00000"/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Up_p1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xmlns="" id="{F29AFE1A-FEE0-4BA6-FA83-69D6024BF80B}"/>
              </a:ext>
            </a:extLst>
          </p:cNvPr>
          <p:cNvSpPr txBox="1"/>
          <p:nvPr/>
        </p:nvSpPr>
        <p:spPr>
          <a:xfrm>
            <a:off x="1073624" y="4912667"/>
            <a:ext cx="191071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rgbClr val="C00000"/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Down_p1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xmlns="" id="{86AA8777-4936-823C-C0FC-471674B230CA}"/>
              </a:ext>
            </a:extLst>
          </p:cNvPr>
          <p:cNvSpPr txBox="1"/>
          <p:nvPr/>
        </p:nvSpPr>
        <p:spPr>
          <a:xfrm>
            <a:off x="4270612" y="4912667"/>
            <a:ext cx="191071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rgbClr val="C00000"/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Down_p2</a:t>
            </a:r>
          </a:p>
        </p:txBody>
      </p:sp>
      <p:pic>
        <p:nvPicPr>
          <p:cNvPr id="13" name="document_6244404938215002726">
            <a:hlinkClick r:id="" action="ppaction://media"/>
            <a:extLst>
              <a:ext uri="{FF2B5EF4-FFF2-40B4-BE49-F238E27FC236}">
                <a16:creationId xmlns:a16="http://schemas.microsoft.com/office/drawing/2014/main" xmlns="" id="{7C4DDA40-EB8B-1656-FF22-2CA26238E3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6423" b="20092"/>
          <a:stretch/>
        </p:blipFill>
        <p:spPr>
          <a:xfrm>
            <a:off x="8382000" y="2095500"/>
            <a:ext cx="6628208" cy="748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1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6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AD52E9F-D7CE-46C4-438E-A4086A6F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370EDB3F-6845-3345-4554-96EBB6764CAA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PADDLE CONTROL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92D98017-2E44-F68C-D1F3-D59DB0E854FD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4A1A835-4256-4354-B29A-EC5873825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082421"/>
            <a:ext cx="13126164" cy="529836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B6FB7079-6B84-50EF-8F68-0D16F1D464B8}"/>
              </a:ext>
            </a:extLst>
          </p:cNvPr>
          <p:cNvSpPr/>
          <p:nvPr/>
        </p:nvSpPr>
        <p:spPr>
          <a:xfrm>
            <a:off x="4138130" y="2578290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83C6B46B-F840-166C-3678-7E452B75DF47}"/>
              </a:ext>
            </a:extLst>
          </p:cNvPr>
          <p:cNvCxnSpPr>
            <a:cxnSpLocks/>
          </p:cNvCxnSpPr>
          <p:nvPr/>
        </p:nvCxnSpPr>
        <p:spPr>
          <a:xfrm flipV="1">
            <a:off x="2309330" y="2959290"/>
            <a:ext cx="1828800" cy="1219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6334FD3-3877-0EC1-AE96-22B6BB7DF8AA}"/>
              </a:ext>
            </a:extLst>
          </p:cNvPr>
          <p:cNvSpPr/>
          <p:nvPr/>
        </p:nvSpPr>
        <p:spPr>
          <a:xfrm>
            <a:off x="4138130" y="5359590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91784B31-51F9-7712-F9FC-3653D0C4C8E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309330" y="4178490"/>
            <a:ext cx="1906915" cy="12592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4">
            <a:extLst>
              <a:ext uri="{FF2B5EF4-FFF2-40B4-BE49-F238E27FC236}">
                <a16:creationId xmlns:a16="http://schemas.microsoft.com/office/drawing/2014/main" xmlns="" id="{CF16AAE4-232C-F916-D017-0BE2F1117640}"/>
              </a:ext>
            </a:extLst>
          </p:cNvPr>
          <p:cNvSpPr txBox="1"/>
          <p:nvPr/>
        </p:nvSpPr>
        <p:spPr>
          <a:xfrm>
            <a:off x="478809" y="3895684"/>
            <a:ext cx="210006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 err="1">
                <a:solidFill>
                  <a:srgbClr val="FF0000"/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Negedge</a:t>
            </a:r>
            <a:r>
              <a:rPr lang="en-US" sz="3000" dirty="0">
                <a:solidFill>
                  <a:srgbClr val="FF0000"/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Pulse</a:t>
            </a:r>
          </a:p>
        </p:txBody>
      </p:sp>
    </p:spTree>
    <p:extLst>
      <p:ext uri="{BB962C8B-B14F-4D97-AF65-F5344CB8AC3E}">
        <p14:creationId xmlns:p14="http://schemas.microsoft.com/office/powerpoint/2010/main" val="215175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BALL MOVEMENT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 descr="A close-up of a black and white dot&#10;&#10;Description automatically generated">
            <a:extLst>
              <a:ext uri="{FF2B5EF4-FFF2-40B4-BE49-F238E27FC236}">
                <a16:creationId xmlns:a16="http://schemas.microsoft.com/office/drawing/2014/main" xmlns="" id="{5700A629-700E-C03E-72A1-E153AB1CF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7" t="16667" r="17027" b="16667"/>
          <a:stretch/>
        </p:blipFill>
        <p:spPr>
          <a:xfrm>
            <a:off x="1433594" y="2723933"/>
            <a:ext cx="5334000" cy="533400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xmlns="" id="{312F17F5-1598-C5D1-3571-44CA83D6605B}"/>
              </a:ext>
            </a:extLst>
          </p:cNvPr>
          <p:cNvSpPr/>
          <p:nvPr/>
        </p:nvSpPr>
        <p:spPr>
          <a:xfrm>
            <a:off x="4176794" y="4781333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0712F53E-54DA-F977-680D-2A77F347959D}"/>
              </a:ext>
            </a:extLst>
          </p:cNvPr>
          <p:cNvCxnSpPr/>
          <p:nvPr/>
        </p:nvCxnSpPr>
        <p:spPr>
          <a:xfrm>
            <a:off x="4405394" y="5056194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AAE1847C-F54C-2A1C-E619-8670E9A7EBD9}"/>
              </a:ext>
            </a:extLst>
          </p:cNvPr>
          <p:cNvCxnSpPr>
            <a:cxnSpLocks/>
          </p:cNvCxnSpPr>
          <p:nvPr/>
        </p:nvCxnSpPr>
        <p:spPr>
          <a:xfrm flipV="1">
            <a:off x="4429803" y="4385093"/>
            <a:ext cx="762000" cy="662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096288C2-FCF6-EDA2-9C5B-048EC81392DA}"/>
              </a:ext>
            </a:extLst>
          </p:cNvPr>
          <p:cNvCxnSpPr>
            <a:cxnSpLocks/>
          </p:cNvCxnSpPr>
          <p:nvPr/>
        </p:nvCxnSpPr>
        <p:spPr>
          <a:xfrm flipV="1">
            <a:off x="4429803" y="4294194"/>
            <a:ext cx="0" cy="76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4930522A-BF8A-D4B3-B204-09964069246B}"/>
              </a:ext>
            </a:extLst>
          </p:cNvPr>
          <p:cNvCxnSpPr>
            <a:cxnSpLocks/>
          </p:cNvCxnSpPr>
          <p:nvPr/>
        </p:nvCxnSpPr>
        <p:spPr>
          <a:xfrm>
            <a:off x="4429803" y="5009933"/>
            <a:ext cx="0" cy="76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C82C1E4D-2A43-8184-3016-E0672599AA76}"/>
              </a:ext>
            </a:extLst>
          </p:cNvPr>
          <p:cNvCxnSpPr>
            <a:cxnSpLocks/>
          </p:cNvCxnSpPr>
          <p:nvPr/>
        </p:nvCxnSpPr>
        <p:spPr>
          <a:xfrm flipH="1">
            <a:off x="3643394" y="5056194"/>
            <a:ext cx="786409" cy="76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566A3D02-FFF0-5774-ED47-F482CEF81DBE}"/>
              </a:ext>
            </a:extLst>
          </p:cNvPr>
          <p:cNvCxnSpPr>
            <a:cxnSpLocks/>
          </p:cNvCxnSpPr>
          <p:nvPr/>
        </p:nvCxnSpPr>
        <p:spPr>
          <a:xfrm flipH="1">
            <a:off x="3695185" y="5063814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1EB558E7-4118-62E4-F54A-ABC8B7500E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92176" y="5101442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D2F4207C-D840-3FDB-7A61-2D267A9C65A5}"/>
              </a:ext>
            </a:extLst>
          </p:cNvPr>
          <p:cNvCxnSpPr>
            <a:cxnSpLocks/>
          </p:cNvCxnSpPr>
          <p:nvPr/>
        </p:nvCxnSpPr>
        <p:spPr>
          <a:xfrm rot="5400000" flipH="1">
            <a:off x="3745016" y="4370865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0" name="TextBox 4">
            <a:extLst>
              <a:ext uri="{FF2B5EF4-FFF2-40B4-BE49-F238E27FC236}">
                <a16:creationId xmlns:a16="http://schemas.microsoft.com/office/drawing/2014/main" xmlns="" id="{7DCDCED9-9323-7ACC-D071-A5FDF3843170}"/>
              </a:ext>
            </a:extLst>
          </p:cNvPr>
          <p:cNvSpPr txBox="1"/>
          <p:nvPr/>
        </p:nvSpPr>
        <p:spPr>
          <a:xfrm>
            <a:off x="6760337" y="2715175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0 : stands still</a:t>
            </a:r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xmlns="" id="{811B4E57-0D01-BEBC-A419-D91D221B2D7C}"/>
              </a:ext>
            </a:extLst>
          </p:cNvPr>
          <p:cNvSpPr txBox="1"/>
          <p:nvPr/>
        </p:nvSpPr>
        <p:spPr>
          <a:xfrm>
            <a:off x="6760337" y="3316349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1 : moves down</a:t>
            </a:r>
          </a:p>
        </p:txBody>
      </p:sp>
      <p:sp>
        <p:nvSpPr>
          <p:cNvPr id="45" name="TextBox 4">
            <a:extLst>
              <a:ext uri="{FF2B5EF4-FFF2-40B4-BE49-F238E27FC236}">
                <a16:creationId xmlns:a16="http://schemas.microsoft.com/office/drawing/2014/main" xmlns="" id="{63162E07-380C-FB45-8282-17A6C14BE936}"/>
              </a:ext>
            </a:extLst>
          </p:cNvPr>
          <p:cNvSpPr txBox="1"/>
          <p:nvPr/>
        </p:nvSpPr>
        <p:spPr>
          <a:xfrm>
            <a:off x="6772673" y="3917523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2 : moves up</a:t>
            </a:r>
          </a:p>
        </p:txBody>
      </p:sp>
      <p:sp>
        <p:nvSpPr>
          <p:cNvPr id="46" name="TextBox 4">
            <a:extLst>
              <a:ext uri="{FF2B5EF4-FFF2-40B4-BE49-F238E27FC236}">
                <a16:creationId xmlns:a16="http://schemas.microsoft.com/office/drawing/2014/main" xmlns="" id="{646D7990-36BA-8321-5D15-4AF523D473D6}"/>
              </a:ext>
            </a:extLst>
          </p:cNvPr>
          <p:cNvSpPr txBox="1"/>
          <p:nvPr/>
        </p:nvSpPr>
        <p:spPr>
          <a:xfrm>
            <a:off x="1268858" y="8127687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ball_speed_y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0 : stands still</a:t>
            </a: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xmlns="" id="{20A9568F-BCA1-6BD0-94C7-44E55F6E8E6A}"/>
              </a:ext>
            </a:extLst>
          </p:cNvPr>
          <p:cNvSpPr txBox="1"/>
          <p:nvPr/>
        </p:nvSpPr>
        <p:spPr>
          <a:xfrm>
            <a:off x="1268858" y="8728861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ball_speed_y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1 : moves right</a:t>
            </a:r>
          </a:p>
        </p:txBody>
      </p:sp>
      <p:sp>
        <p:nvSpPr>
          <p:cNvPr id="48" name="TextBox 4">
            <a:extLst>
              <a:ext uri="{FF2B5EF4-FFF2-40B4-BE49-F238E27FC236}">
                <a16:creationId xmlns:a16="http://schemas.microsoft.com/office/drawing/2014/main" xmlns="" id="{24B23AB4-B19E-F712-9196-523C352CA078}"/>
              </a:ext>
            </a:extLst>
          </p:cNvPr>
          <p:cNvSpPr txBox="1"/>
          <p:nvPr/>
        </p:nvSpPr>
        <p:spPr>
          <a:xfrm>
            <a:off x="1281194" y="9330035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2 : moves left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A9AF592D-427D-CF3F-2D7B-511BE20CB5DD}"/>
              </a:ext>
            </a:extLst>
          </p:cNvPr>
          <p:cNvCxnSpPr/>
          <p:nvPr/>
        </p:nvCxnSpPr>
        <p:spPr>
          <a:xfrm>
            <a:off x="1128794" y="4379188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xmlns="" id="{E1BE06B5-131B-8FEE-1570-0AB5C8634DFB}"/>
              </a:ext>
            </a:extLst>
          </p:cNvPr>
          <p:cNvCxnSpPr>
            <a:cxnSpLocks/>
          </p:cNvCxnSpPr>
          <p:nvPr/>
        </p:nvCxnSpPr>
        <p:spPr>
          <a:xfrm rot="-5400000">
            <a:off x="4165084" y="1446294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4">
                <a:extLst>
                  <a:ext uri="{FF2B5EF4-FFF2-40B4-BE49-F238E27FC236}">
                    <a16:creationId xmlns:a16="http://schemas.microsoft.com/office/drawing/2014/main" xmlns="" id="{8DFE2C92-D96B-59A4-70FC-CC314B503216}"/>
                  </a:ext>
                </a:extLst>
              </p:cNvPr>
              <p:cNvSpPr txBox="1"/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𝑦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52" name="TextBox 4">
                <a:extLst>
                  <a:ext uri="{FF2B5EF4-FFF2-40B4-BE49-F238E27FC236}">
                    <a16:creationId xmlns:a16="http://schemas.microsoft.com/office/drawing/2014/main" id="{8DFE2C92-D96B-59A4-70FC-CC314B503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4">
                <a:extLst>
                  <a:ext uri="{FF2B5EF4-FFF2-40B4-BE49-F238E27FC236}">
                    <a16:creationId xmlns:a16="http://schemas.microsoft.com/office/drawing/2014/main" xmlns="" id="{67B5C7FE-A0BE-2AB4-CB01-442B4AC028FF}"/>
                  </a:ext>
                </a:extLst>
              </p:cNvPr>
              <p:cNvSpPr txBox="1"/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𝑥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53" name="TextBox 4">
                <a:extLst>
                  <a:ext uri="{FF2B5EF4-FFF2-40B4-BE49-F238E27FC236}">
                    <a16:creationId xmlns:a16="http://schemas.microsoft.com/office/drawing/2014/main" id="{67B5C7FE-A0BE-2AB4-CB01-442B4AC02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47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0" grpId="2"/>
      <p:bldP spid="44" grpId="0"/>
      <p:bldP spid="44" grpId="1"/>
      <p:bldP spid="44" grpId="2"/>
      <p:bldP spid="45" grpId="0"/>
      <p:bldP spid="45" grpId="1"/>
      <p:bldP spid="45" grpId="2"/>
      <p:bldP spid="45" grpId="3"/>
      <p:bldP spid="46" grpId="0"/>
      <p:bldP spid="46" grpId="1"/>
      <p:bldP spid="46" grpId="2"/>
      <p:bldP spid="47" grpId="0"/>
      <p:bldP spid="47" grpId="1"/>
      <p:bldP spid="47" grpId="2"/>
      <p:bldP spid="48" grpId="0"/>
      <p:bldP spid="48" grpId="1"/>
      <p:bldP spid="48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D1436EC-754E-2AF7-1775-36823B44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26BEF0DB-EC10-CA7C-199F-D393A5E12B56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BALL MOVEMENT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7E380BE7-B8D6-CB9C-2C88-833B18BD8027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3D35390-FCC2-F23F-AD8F-9B7538444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95500"/>
            <a:ext cx="11963400" cy="65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3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4B9E0EC-7DF3-8E97-7C73-6D6A855B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28B8C7BB-4B31-6011-39C2-57FCD074CEB3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BOUNDARY COLLISION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0A841E8D-3108-A57B-7F92-52020316842A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close-up of a black and white dot&#10;&#10;Description automatically generated">
            <a:extLst>
              <a:ext uri="{FF2B5EF4-FFF2-40B4-BE49-F238E27FC236}">
                <a16:creationId xmlns:a16="http://schemas.microsoft.com/office/drawing/2014/main" xmlns="" id="{5C64BFFF-1665-3862-DD55-B065621BC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7" t="16667" r="17027" b="16667"/>
          <a:stretch/>
        </p:blipFill>
        <p:spPr>
          <a:xfrm>
            <a:off x="1433594" y="2723933"/>
            <a:ext cx="5334000" cy="5334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xmlns="" id="{75250662-8B96-35F5-9DC6-825EA0CFFB1B}"/>
              </a:ext>
            </a:extLst>
          </p:cNvPr>
          <p:cNvSpPr/>
          <p:nvPr/>
        </p:nvSpPr>
        <p:spPr>
          <a:xfrm>
            <a:off x="4876800" y="3467100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DD749B3B-A702-EB1A-E67C-6372BECBB225}"/>
              </a:ext>
            </a:extLst>
          </p:cNvPr>
          <p:cNvCxnSpPr/>
          <p:nvPr/>
        </p:nvCxnSpPr>
        <p:spPr>
          <a:xfrm>
            <a:off x="1128794" y="4379188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FD1028A7-FF34-E7DE-67AF-1A329A79074A}"/>
              </a:ext>
            </a:extLst>
          </p:cNvPr>
          <p:cNvCxnSpPr>
            <a:cxnSpLocks/>
          </p:cNvCxnSpPr>
          <p:nvPr/>
        </p:nvCxnSpPr>
        <p:spPr>
          <a:xfrm rot="-5400000">
            <a:off x="4165084" y="1446294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xmlns="" id="{967E6122-5ACF-1898-8CBC-754B9897476B}"/>
                  </a:ext>
                </a:extLst>
              </p:cNvPr>
              <p:cNvSpPr txBox="1"/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𝑦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id="{967E6122-5ACF-1898-8CBC-754B98974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4">
                <a:extLst>
                  <a:ext uri="{FF2B5EF4-FFF2-40B4-BE49-F238E27FC236}">
                    <a16:creationId xmlns:a16="http://schemas.microsoft.com/office/drawing/2014/main" xmlns="" id="{49219048-7568-DF75-A2FB-A2D2DEA4950D}"/>
                  </a:ext>
                </a:extLst>
              </p:cNvPr>
              <p:cNvSpPr txBox="1"/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𝑥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19" name="TextBox 4">
                <a:extLst>
                  <a:ext uri="{FF2B5EF4-FFF2-40B4-BE49-F238E27FC236}">
                    <a16:creationId xmlns:a16="http://schemas.microsoft.com/office/drawing/2014/main" id="{49219048-7568-DF75-A2FB-A2D2DEA49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xmlns="" id="{5632B3E3-3D18-31C4-91A5-05D8BAEEECB5}"/>
              </a:ext>
            </a:extLst>
          </p:cNvPr>
          <p:cNvSpPr/>
          <p:nvPr/>
        </p:nvSpPr>
        <p:spPr>
          <a:xfrm>
            <a:off x="4199698" y="2757129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322B5A1F-5796-2526-5D98-D3E5C41926D7}"/>
              </a:ext>
            </a:extLst>
          </p:cNvPr>
          <p:cNvSpPr/>
          <p:nvPr/>
        </p:nvSpPr>
        <p:spPr>
          <a:xfrm>
            <a:off x="3519406" y="3441700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955E2C13-4FE2-C98D-D7F9-755C7B888F54}"/>
              </a:ext>
            </a:extLst>
          </p:cNvPr>
          <p:cNvSpPr/>
          <p:nvPr/>
        </p:nvSpPr>
        <p:spPr>
          <a:xfrm>
            <a:off x="4185492" y="7505700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FB19BE41-45D8-CC41-146F-AC6BEA37D17B}"/>
              </a:ext>
            </a:extLst>
          </p:cNvPr>
          <p:cNvSpPr/>
          <p:nvPr/>
        </p:nvSpPr>
        <p:spPr>
          <a:xfrm>
            <a:off x="3519406" y="6819900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9ED2A20C-8617-DC0B-07A7-27A6ADFF5B89}"/>
              </a:ext>
            </a:extLst>
          </p:cNvPr>
          <p:cNvSpPr/>
          <p:nvPr/>
        </p:nvSpPr>
        <p:spPr>
          <a:xfrm>
            <a:off x="4876800" y="6781800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41ED47D2-A32E-31EF-CDA4-C0E370E9C487}"/>
              </a:ext>
            </a:extLst>
          </p:cNvPr>
          <p:cNvCxnSpPr>
            <a:cxnSpLocks/>
          </p:cNvCxnSpPr>
          <p:nvPr/>
        </p:nvCxnSpPr>
        <p:spPr>
          <a:xfrm rot="5400000" flipH="1">
            <a:off x="4428770" y="3023613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BB9AF07E-2388-B79E-9842-B09D1880A3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41435" y="7082062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TextBox 4">
            <a:extLst>
              <a:ext uri="{FF2B5EF4-FFF2-40B4-BE49-F238E27FC236}">
                <a16:creationId xmlns:a16="http://schemas.microsoft.com/office/drawing/2014/main" xmlns="" id="{D53AB60B-3F7B-5F1E-10BD-4C4777A26527}"/>
              </a:ext>
            </a:extLst>
          </p:cNvPr>
          <p:cNvSpPr txBox="1"/>
          <p:nvPr/>
        </p:nvSpPr>
        <p:spPr>
          <a:xfrm>
            <a:off x="6632437" y="2792996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if(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==0): 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1</a:t>
            </a:r>
          </a:p>
        </p:txBody>
      </p:sp>
      <p:sp>
        <p:nvSpPr>
          <p:cNvPr id="30" name="TextBox 4">
            <a:extLst>
              <a:ext uri="{FF2B5EF4-FFF2-40B4-BE49-F238E27FC236}">
                <a16:creationId xmlns:a16="http://schemas.microsoft.com/office/drawing/2014/main" xmlns="" id="{32271DC3-8648-57CC-4093-DB105017E1CC}"/>
              </a:ext>
            </a:extLst>
          </p:cNvPr>
          <p:cNvSpPr txBox="1"/>
          <p:nvPr/>
        </p:nvSpPr>
        <p:spPr>
          <a:xfrm>
            <a:off x="6604000" y="7536016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if(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==7): 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400568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8" grpId="0"/>
      <p:bldP spid="19" grpId="0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9" grpId="4"/>
      <p:bldP spid="29" grpId="5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1E4B3D6-AC45-D9AA-90FB-BCDB947D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952D2C05-FE52-4466-FE11-4690BF1BD06B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BOUNDARY COLLISION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DBC7981E-99CF-90AD-1B11-330D2A7F2FF4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6" name="document_6233358866445242609">
            <a:hlinkClick r:id="" action="ppaction://media"/>
            <a:extLst>
              <a:ext uri="{FF2B5EF4-FFF2-40B4-BE49-F238E27FC236}">
                <a16:creationId xmlns:a16="http://schemas.microsoft.com/office/drawing/2014/main" xmlns="" id="{AD38654E-2B5F-B6AC-AC54-67B9C0E15BF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14600" y="21717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1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1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36EFF3E-86FA-BBCC-0FAC-BF50A764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CDEBD397-B5CA-0446-06C3-981E58DEA637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PADDLE COLLISION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ABE9757A-6593-F92D-4F7D-A8F7B0125796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close-up of a black and white dot&#10;&#10;Description automatically generated">
            <a:extLst>
              <a:ext uri="{FF2B5EF4-FFF2-40B4-BE49-F238E27FC236}">
                <a16:creationId xmlns:a16="http://schemas.microsoft.com/office/drawing/2014/main" xmlns="" id="{0442653B-3851-2621-15EE-0AFACBF8D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7" t="16667" r="17027" b="16667"/>
          <a:stretch/>
        </p:blipFill>
        <p:spPr>
          <a:xfrm>
            <a:off x="1433594" y="2723933"/>
            <a:ext cx="5334000" cy="53340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31D79AA3-CE31-8DE8-0B21-A3043E5B8300}"/>
              </a:ext>
            </a:extLst>
          </p:cNvPr>
          <p:cNvCxnSpPr/>
          <p:nvPr/>
        </p:nvCxnSpPr>
        <p:spPr>
          <a:xfrm>
            <a:off x="1128794" y="4379188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F5E4256D-13F6-15E8-8B88-2385F6CDFAF2}"/>
              </a:ext>
            </a:extLst>
          </p:cNvPr>
          <p:cNvCxnSpPr>
            <a:cxnSpLocks/>
          </p:cNvCxnSpPr>
          <p:nvPr/>
        </p:nvCxnSpPr>
        <p:spPr>
          <a:xfrm rot="-5400000">
            <a:off x="4165084" y="1446294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xmlns="" id="{20C58518-8FA3-259C-BECD-20D2BE659F91}"/>
                  </a:ext>
                </a:extLst>
              </p:cNvPr>
              <p:cNvSpPr txBox="1"/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𝑦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id="{20C58518-8FA3-259C-BECD-20D2BE659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4">
                <a:extLst>
                  <a:ext uri="{FF2B5EF4-FFF2-40B4-BE49-F238E27FC236}">
                    <a16:creationId xmlns:a16="http://schemas.microsoft.com/office/drawing/2014/main" xmlns="" id="{53675694-DF5A-BC47-C380-34C2FFA70EE4}"/>
                  </a:ext>
                </a:extLst>
              </p:cNvPr>
              <p:cNvSpPr txBox="1"/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𝑥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19" name="TextBox 4">
                <a:extLst>
                  <a:ext uri="{FF2B5EF4-FFF2-40B4-BE49-F238E27FC236}">
                    <a16:creationId xmlns:a16="http://schemas.microsoft.com/office/drawing/2014/main" id="{53675694-DF5A-BC47-C380-34C2FFA70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xmlns="" id="{6E7BBF8C-ACD6-297F-3E01-9920E791F468}"/>
              </a:ext>
            </a:extLst>
          </p:cNvPr>
          <p:cNvSpPr/>
          <p:nvPr/>
        </p:nvSpPr>
        <p:spPr>
          <a:xfrm>
            <a:off x="2188897" y="3462477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xmlns="" id="{FA6E9FC2-2C24-B820-6E16-D4006313CAAD}"/>
              </a:ext>
            </a:extLst>
          </p:cNvPr>
          <p:cNvSpPr txBox="1"/>
          <p:nvPr/>
        </p:nvSpPr>
        <p:spPr>
          <a:xfrm>
            <a:off x="6632436" y="2792996"/>
            <a:ext cx="837896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if(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==p1_pos): 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F0DFB60D-DAD9-AE97-7424-672C78281050}"/>
              </a:ext>
            </a:extLst>
          </p:cNvPr>
          <p:cNvSpPr/>
          <p:nvPr/>
        </p:nvSpPr>
        <p:spPr>
          <a:xfrm>
            <a:off x="1508289" y="4112488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AAF69F3A-BB29-5419-782A-C4BF1B696561}"/>
              </a:ext>
            </a:extLst>
          </p:cNvPr>
          <p:cNvSpPr/>
          <p:nvPr/>
        </p:nvSpPr>
        <p:spPr>
          <a:xfrm>
            <a:off x="1508289" y="4762500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4ACB263-687F-02FD-EB37-E13C2B27A865}"/>
              </a:ext>
            </a:extLst>
          </p:cNvPr>
          <p:cNvSpPr/>
          <p:nvPr/>
        </p:nvSpPr>
        <p:spPr>
          <a:xfrm>
            <a:off x="1508289" y="5444007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750752E0-0A30-2149-120C-6DCA7E20653E}"/>
              </a:ext>
            </a:extLst>
          </p:cNvPr>
          <p:cNvCxnSpPr>
            <a:cxnSpLocks/>
          </p:cNvCxnSpPr>
          <p:nvPr/>
        </p:nvCxnSpPr>
        <p:spPr>
          <a:xfrm flipH="1">
            <a:off x="1754086" y="3730603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4FAF9167-DE01-D015-DE31-C4003E20F94C}"/>
              </a:ext>
            </a:extLst>
          </p:cNvPr>
          <p:cNvSpPr/>
          <p:nvPr/>
        </p:nvSpPr>
        <p:spPr>
          <a:xfrm>
            <a:off x="2188897" y="4769025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3AAF3C87-8911-1846-5BF8-C49E492EE358}"/>
              </a:ext>
            </a:extLst>
          </p:cNvPr>
          <p:cNvSpPr/>
          <p:nvPr/>
        </p:nvSpPr>
        <p:spPr>
          <a:xfrm>
            <a:off x="2188897" y="4111060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AB31EE67-F7F0-D510-7386-CB767BFC6620}"/>
              </a:ext>
            </a:extLst>
          </p:cNvPr>
          <p:cNvCxnSpPr>
            <a:cxnSpLocks/>
          </p:cNvCxnSpPr>
          <p:nvPr/>
        </p:nvCxnSpPr>
        <p:spPr>
          <a:xfrm flipH="1">
            <a:off x="1754086" y="4379186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09662CC2-6D33-97BE-290D-01C08230E95C}"/>
              </a:ext>
            </a:extLst>
          </p:cNvPr>
          <p:cNvCxnSpPr/>
          <p:nvPr/>
        </p:nvCxnSpPr>
        <p:spPr>
          <a:xfrm>
            <a:off x="1738394" y="5027939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32046797-4FC1-C811-9F4E-3AD40434957A}"/>
              </a:ext>
            </a:extLst>
          </p:cNvPr>
          <p:cNvCxnSpPr>
            <a:cxnSpLocks/>
          </p:cNvCxnSpPr>
          <p:nvPr/>
        </p:nvCxnSpPr>
        <p:spPr>
          <a:xfrm flipH="1">
            <a:off x="1714896" y="5101600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B4E11F76-7711-693B-D9FD-BA9D6C64E242}"/>
              </a:ext>
            </a:extLst>
          </p:cNvPr>
          <p:cNvSpPr/>
          <p:nvPr/>
        </p:nvSpPr>
        <p:spPr>
          <a:xfrm>
            <a:off x="2188897" y="6124125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BA755B11-E392-90BB-8C1E-F86E6451FC3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37362" y="5751881"/>
            <a:ext cx="722414" cy="647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TextBox 4">
            <a:extLst>
              <a:ext uri="{FF2B5EF4-FFF2-40B4-BE49-F238E27FC236}">
                <a16:creationId xmlns:a16="http://schemas.microsoft.com/office/drawing/2014/main" xmlns="" id="{91304629-BCDD-65F3-E6BF-C0EA3D85C9FA}"/>
              </a:ext>
            </a:extLst>
          </p:cNvPr>
          <p:cNvSpPr txBox="1"/>
          <p:nvPr/>
        </p:nvSpPr>
        <p:spPr>
          <a:xfrm>
            <a:off x="6632436" y="3323724"/>
            <a:ext cx="837896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if(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==p1_pos+1): 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0</a:t>
            </a: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xmlns="" id="{5E7E3096-FCBA-AFB3-3455-EFB0F0441D7F}"/>
              </a:ext>
            </a:extLst>
          </p:cNvPr>
          <p:cNvSpPr txBox="1"/>
          <p:nvPr/>
        </p:nvSpPr>
        <p:spPr>
          <a:xfrm>
            <a:off x="6632436" y="3854452"/>
            <a:ext cx="837896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if(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==p1_pos+2): 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EE0D6D8D-7FA4-D1CD-68F5-0F88D4CCAA15}"/>
              </a:ext>
            </a:extLst>
          </p:cNvPr>
          <p:cNvCxnSpPr>
            <a:cxnSpLocks/>
          </p:cNvCxnSpPr>
          <p:nvPr/>
        </p:nvCxnSpPr>
        <p:spPr>
          <a:xfrm flipV="1">
            <a:off x="1774989" y="3673412"/>
            <a:ext cx="762000" cy="662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4">
            <a:extLst>
              <a:ext uri="{FF2B5EF4-FFF2-40B4-BE49-F238E27FC236}">
                <a16:creationId xmlns:a16="http://schemas.microsoft.com/office/drawing/2014/main" xmlns="" id="{7088C439-8B98-4C7D-93EC-DCC72D7F0401}"/>
              </a:ext>
            </a:extLst>
          </p:cNvPr>
          <p:cNvSpPr txBox="1"/>
          <p:nvPr/>
        </p:nvSpPr>
        <p:spPr>
          <a:xfrm>
            <a:off x="6604000" y="7536016"/>
            <a:ext cx="70866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if(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ball_y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==0): 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ball_speed_y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310048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 animBg="1"/>
      <p:bldP spid="21" grpId="1" animBg="1"/>
      <p:bldP spid="21" grpId="2" animBg="1"/>
      <p:bldP spid="21" grpId="3" animBg="1"/>
      <p:bldP spid="29" grpId="0"/>
      <p:bldP spid="29" grpId="1"/>
      <p:bldP spid="6" grpId="0" animBg="1"/>
      <p:bldP spid="7" grpId="0" animBg="1"/>
      <p:bldP spid="8" grpId="0" animBg="1"/>
      <p:bldP spid="10" grpId="2" animBg="1"/>
      <p:bldP spid="10" grpId="3" animBg="1"/>
      <p:bldP spid="10" grpId="4" animBg="1"/>
      <p:bldP spid="13" grpId="0" animBg="1"/>
      <p:bldP spid="13" grpId="1" animBg="1"/>
      <p:bldP spid="28" grpId="0" animBg="1"/>
      <p:bldP spid="32" grpId="0"/>
      <p:bldP spid="32" grpId="1"/>
      <p:bldP spid="33" grpId="0"/>
      <p:bldP spid="3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375F6BC-1C1D-BF3E-13CA-56C433A3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B3A79D43-9EAC-FB96-26DB-9A482A140F0D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COLLISION LOGIC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244B86F1-474C-DC0D-57F8-C777C52AC77A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BF2C8B1-7A35-2074-D912-890BEFED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29971"/>
            <a:ext cx="8164064" cy="329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A0BA482-1CDD-8F17-8B68-0F9233636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600700"/>
            <a:ext cx="8164064" cy="33118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B7E9A8DE-0176-BAA5-9224-523ACC1AE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2129971"/>
            <a:ext cx="3401274" cy="175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16DAB74-5CE7-DCB1-9F07-75619DEE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38EB1989-76C7-066F-8522-F723B94D22F2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SCORING LOGIC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3FFB7401-B434-A621-CE6C-5D45344A21DA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close-up of a black and white dot&#10;&#10;Description automatically generated">
            <a:extLst>
              <a:ext uri="{FF2B5EF4-FFF2-40B4-BE49-F238E27FC236}">
                <a16:creationId xmlns:a16="http://schemas.microsoft.com/office/drawing/2014/main" xmlns="" id="{F2D5BD37-EA28-BD32-C2C5-E1789BA56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7" t="16667" r="17027" b="16667"/>
          <a:stretch/>
        </p:blipFill>
        <p:spPr>
          <a:xfrm>
            <a:off x="1433594" y="2723933"/>
            <a:ext cx="5334000" cy="5334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CBEE9DFA-6B37-5E61-0072-7F84CD677C3B}"/>
              </a:ext>
            </a:extLst>
          </p:cNvPr>
          <p:cNvSpPr/>
          <p:nvPr/>
        </p:nvSpPr>
        <p:spPr>
          <a:xfrm>
            <a:off x="2209800" y="2781300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D3F59863-195E-615A-3F2D-46B2DAB5ADA7}"/>
              </a:ext>
            </a:extLst>
          </p:cNvPr>
          <p:cNvCxnSpPr/>
          <p:nvPr/>
        </p:nvCxnSpPr>
        <p:spPr>
          <a:xfrm>
            <a:off x="1128794" y="4379188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9E636DA0-1E2A-45D2-F4D0-E57BFEFDC7B7}"/>
              </a:ext>
            </a:extLst>
          </p:cNvPr>
          <p:cNvCxnSpPr>
            <a:cxnSpLocks/>
          </p:cNvCxnSpPr>
          <p:nvPr/>
        </p:nvCxnSpPr>
        <p:spPr>
          <a:xfrm rot="-5400000">
            <a:off x="4165084" y="1446294"/>
            <a:ext cx="0" cy="20534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xmlns="" id="{B6B83377-A59A-2403-5F83-64109D5FC8BE}"/>
                  </a:ext>
                </a:extLst>
              </p:cNvPr>
              <p:cNvSpPr txBox="1"/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𝑦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B6B83377-A59A-2403-5F83-64109D5FC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94" y="1956414"/>
                <a:ext cx="838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xmlns="" id="{B1666B41-F38E-05D2-03E2-9A1A62494A37}"/>
                  </a:ext>
                </a:extLst>
              </p:cNvPr>
              <p:cNvSpPr txBox="1"/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Public Sans"/>
                          <a:cs typeface="Public Sans"/>
                          <a:sym typeface="Public Sans"/>
                        </a:rPr>
                        <m:t>𝑥</m:t>
                      </m:r>
                    </m:oMath>
                  </m:oMathPara>
                </a14:m>
                <a:endParaRPr lang="en-US" sz="3000" dirty="0">
                  <a:solidFill>
                    <a:srgbClr val="C00000"/>
                  </a:solidFill>
                  <a:latin typeface="Consolas" panose="020B0609020204030204" pitchFamily="49" charset="0"/>
                  <a:ea typeface="Public Sans"/>
                  <a:cs typeface="Public Sans"/>
                  <a:sym typeface="Public Sans"/>
                </a:endParaRPr>
              </a:p>
            </p:txBody>
          </p:sp>
        </mc:Choice>
        <mc:Fallback xmlns=""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B1666B41-F38E-05D2-03E2-9A1A62494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5028494"/>
                <a:ext cx="8382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xmlns="" id="{89CA7D00-5B17-9DCA-2563-FFDD1E57905A}"/>
              </a:ext>
            </a:extLst>
          </p:cNvPr>
          <p:cNvSpPr/>
          <p:nvPr/>
        </p:nvSpPr>
        <p:spPr>
          <a:xfrm>
            <a:off x="1508289" y="4112488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FF50DAC9-08A3-D88B-5313-2FB722938757}"/>
              </a:ext>
            </a:extLst>
          </p:cNvPr>
          <p:cNvSpPr/>
          <p:nvPr/>
        </p:nvSpPr>
        <p:spPr>
          <a:xfrm>
            <a:off x="1508289" y="4762500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307EA841-B251-A8CA-85B0-36B733A64552}"/>
              </a:ext>
            </a:extLst>
          </p:cNvPr>
          <p:cNvSpPr/>
          <p:nvPr/>
        </p:nvSpPr>
        <p:spPr>
          <a:xfrm>
            <a:off x="1508289" y="5470202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F87AFAFE-AC5D-1FF1-A79B-8C627449DA81}"/>
              </a:ext>
            </a:extLst>
          </p:cNvPr>
          <p:cNvCxnSpPr>
            <a:cxnSpLocks/>
          </p:cNvCxnSpPr>
          <p:nvPr/>
        </p:nvCxnSpPr>
        <p:spPr>
          <a:xfrm flipH="1">
            <a:off x="1648484" y="3040380"/>
            <a:ext cx="786409" cy="76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C0B7E915-DD47-EB16-2C83-DEEBA712D86E}"/>
              </a:ext>
            </a:extLst>
          </p:cNvPr>
          <p:cNvSpPr/>
          <p:nvPr/>
        </p:nvSpPr>
        <p:spPr>
          <a:xfrm>
            <a:off x="6172200" y="4112488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77770DCF-3755-EB62-36EC-8CCADA4ECF7B}"/>
              </a:ext>
            </a:extLst>
          </p:cNvPr>
          <p:cNvSpPr/>
          <p:nvPr/>
        </p:nvSpPr>
        <p:spPr>
          <a:xfrm>
            <a:off x="6172200" y="4762500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952313E2-3314-2E7A-D92B-9D73E55C08AF}"/>
              </a:ext>
            </a:extLst>
          </p:cNvPr>
          <p:cNvSpPr/>
          <p:nvPr/>
        </p:nvSpPr>
        <p:spPr>
          <a:xfrm>
            <a:off x="6172200" y="5470202"/>
            <a:ext cx="533400" cy="533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23CEE6EB-6AB7-0006-427F-ADB2FB156411}"/>
              </a:ext>
            </a:extLst>
          </p:cNvPr>
          <p:cNvSpPr/>
          <p:nvPr/>
        </p:nvSpPr>
        <p:spPr>
          <a:xfrm>
            <a:off x="4176794" y="5470202"/>
            <a:ext cx="533400" cy="533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xmlns="" id="{08B35AA8-BDE6-4A8D-7761-8EFD51C2B1DC}"/>
              </a:ext>
            </a:extLst>
          </p:cNvPr>
          <p:cNvSpPr txBox="1"/>
          <p:nvPr/>
        </p:nvSpPr>
        <p:spPr>
          <a:xfrm>
            <a:off x="7072393" y="2723933"/>
            <a:ext cx="956712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If (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ball_y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== 0 and </a:t>
            </a:r>
          </a:p>
          <a:p>
            <a:pPr marL="302259" lvl="1" algn="just"/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 p1_pos or </a:t>
            </a:r>
          </a:p>
          <a:p>
            <a:pPr marL="302259" lvl="1" algn="just"/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&gt; p1_pos+2): &gt;score_p2 = score_p2 +1</a:t>
            </a:r>
          </a:p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				    &gt;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ball_x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4, 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ball_y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 4</a:t>
            </a:r>
          </a:p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				    &gt;</a:t>
            </a:r>
            <a:r>
              <a:rPr lang="en-US" sz="30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ball_speed_y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 =1</a:t>
            </a:r>
          </a:p>
          <a:p>
            <a:pPr marL="302259" lvl="1" algn="just"/>
            <a:r>
              <a:rPr lang="en-US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ublic Sans"/>
                <a:cs typeface="Public Sans"/>
                <a:sym typeface="Public Sans"/>
              </a:rPr>
              <a:t>				    &gt;p1_pos and p2_pos =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DDA0A0A5-2097-2830-2BF7-B158D0A2842A}"/>
              </a:ext>
            </a:extLst>
          </p:cNvPr>
          <p:cNvCxnSpPr/>
          <p:nvPr/>
        </p:nvCxnSpPr>
        <p:spPr>
          <a:xfrm>
            <a:off x="4353604" y="575310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19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/>
      <p:bldP spid="10" grpId="0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90FA278-E4C3-E288-0271-8A79F97D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5AA48B67-81A4-5185-0D35-DAB550CA2DF1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SCORING LOGIC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5213CCAA-AFA7-11EC-933A-706D79E96107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39BD0C9-5CAA-1812-1CC8-DD1F1CC5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95500"/>
            <a:ext cx="10591800" cy="681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4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F213ADD-EEF1-EB77-C28C-1887C0CC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a16:creationId xmlns:a16="http://schemas.microsoft.com/office/drawing/2014/main" xmlns="" id="{A9919C5A-051A-9C0F-157A-04289F424CFB}"/>
              </a:ext>
            </a:extLst>
          </p:cNvPr>
          <p:cNvSpPr txBox="1"/>
          <p:nvPr/>
        </p:nvSpPr>
        <p:spPr>
          <a:xfrm>
            <a:off x="1167397" y="4143624"/>
            <a:ext cx="15953207" cy="103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9600" spc="3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Score Display</a:t>
            </a:r>
          </a:p>
        </p:txBody>
      </p:sp>
    </p:spTree>
    <p:extLst>
      <p:ext uri="{BB962C8B-B14F-4D97-AF65-F5344CB8AC3E}">
        <p14:creationId xmlns:p14="http://schemas.microsoft.com/office/powerpoint/2010/main" val="1924465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39834" y="4101458"/>
            <a:ext cx="16408332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0"/>
              </a:lnSpc>
            </a:pPr>
            <a:r>
              <a:rPr lang="en-US" sz="16758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282</Words>
  <Application>Microsoft Office PowerPoint</Application>
  <PresentationFormat>Custom</PresentationFormat>
  <Paragraphs>68</Paragraphs>
  <Slides>25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Public Sans</vt:lpstr>
      <vt:lpstr>Public Sans Bold</vt:lpstr>
      <vt:lpstr>Consolas</vt:lpstr>
      <vt:lpstr>Helvetica</vt:lpstr>
      <vt:lpstr>Playfair Display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Neutral Minimalist New Business Pitch Deck Presentation</dc:title>
  <dc:creator>Arif Nirzon</dc:creator>
  <cp:lastModifiedBy>User</cp:lastModifiedBy>
  <cp:revision>31</cp:revision>
  <dcterms:created xsi:type="dcterms:W3CDTF">2006-08-16T00:00:00Z</dcterms:created>
  <dcterms:modified xsi:type="dcterms:W3CDTF">2024-12-09T05:25:25Z</dcterms:modified>
  <dc:identifier>DAGUdh8hObI</dc:identifier>
</cp:coreProperties>
</file>