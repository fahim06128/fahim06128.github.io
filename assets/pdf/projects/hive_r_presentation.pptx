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notesMasterIdLst>
    <p:notesMasterId r:id="rId14"/>
  </p:notesMasterIdLst>
  <p:handoutMasterIdLst>
    <p:handoutMasterId r:id="rId15"/>
  </p:handoutMasterIdLst>
  <p:sldIdLst>
    <p:sldId id="256" r:id="rId2"/>
    <p:sldId id="272" r:id="rId3"/>
    <p:sldId id="280" r:id="rId4"/>
    <p:sldId id="310" r:id="rId5"/>
    <p:sldId id="292" r:id="rId6"/>
    <p:sldId id="293" r:id="rId7"/>
    <p:sldId id="294" r:id="rId8"/>
    <p:sldId id="307" r:id="rId9"/>
    <p:sldId id="308" r:id="rId10"/>
    <p:sldId id="311" r:id="rId11"/>
    <p:sldId id="258" r:id="rId12"/>
    <p:sldId id="309" r:id="rId13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07B188-9B2B-8613-8AA1-C615E1B59B42}" v="811" dt="2026-04-03T20:54:25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3" autoAdjust="0"/>
    <p:restoredTop sz="95153"/>
  </p:normalViewPr>
  <p:slideViewPr>
    <p:cSldViewPr snapToGrid="0" snapToObjects="1">
      <p:cViewPr>
        <p:scale>
          <a:sx n="75" d="100"/>
          <a:sy n="75" d="100"/>
        </p:scale>
        <p:origin x="485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29689B-F547-49DA-879F-C70B8A8AD99C}" type="doc">
      <dgm:prSet loTypeId="urn:microsoft.com/office/officeart/2005/8/layout/vList2#1" loCatId="list" qsTypeId="urn:microsoft.com/office/officeart/2005/8/quickstyle/simple3#1" qsCatId="simple" csTypeId="urn:microsoft.com/office/officeart/2005/8/colors/accent0_3#1" csCatId="accent1" phldr="1"/>
      <dgm:spPr/>
      <dgm:t>
        <a:bodyPr/>
        <a:lstStyle/>
        <a:p>
          <a:endParaRPr lang="en-US"/>
        </a:p>
      </dgm:t>
    </dgm:pt>
    <dgm:pt modelId="{06E64568-4A38-45A8-B57F-319E251301EB}">
      <dgm:prSet phldrT="[Text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Overview</a:t>
          </a:r>
        </a:p>
      </dgm:t>
    </dgm:pt>
    <dgm:pt modelId="{464D738B-BCA1-460E-8AA6-44641D974FE8}" type="parTrans" cxnId="{58A2A85F-47DC-4C5D-8EE9-CDEB1E342B87}">
      <dgm:prSet/>
      <dgm:spPr/>
      <dgm:t>
        <a:bodyPr/>
        <a:lstStyle/>
        <a:p>
          <a:endParaRPr lang="en-US"/>
        </a:p>
      </dgm:t>
    </dgm:pt>
    <dgm:pt modelId="{4E841D98-A062-4A9F-BE7E-203B0A7DCD9F}" type="sibTrans" cxnId="{58A2A85F-47DC-4C5D-8EE9-CDEB1E342B87}">
      <dgm:prSet/>
      <dgm:spPr/>
      <dgm:t>
        <a:bodyPr/>
        <a:lstStyle/>
        <a:p>
          <a:endParaRPr lang="en-US"/>
        </a:p>
      </dgm:t>
    </dgm:pt>
    <dgm:pt modelId="{C61D7E84-214E-4ED2-81F0-A9A6F9386EB9}">
      <dgm:prSet phldrT="[Text]"/>
      <dgm:spPr/>
      <dgm:t>
        <a:bodyPr/>
        <a:lstStyle/>
        <a:p>
          <a:r>
            <a:rPr lang="en-US" dirty="0"/>
            <a:t>Workflow</a:t>
          </a:r>
        </a:p>
      </dgm:t>
    </dgm:pt>
    <dgm:pt modelId="{E967C6D6-CFDF-4247-A242-7BF52A395F55}" type="parTrans" cxnId="{5574FC4D-3339-4A83-8C89-94AEADC7852B}">
      <dgm:prSet/>
      <dgm:spPr/>
      <dgm:t>
        <a:bodyPr/>
        <a:lstStyle/>
        <a:p>
          <a:endParaRPr lang="en-US"/>
        </a:p>
      </dgm:t>
    </dgm:pt>
    <dgm:pt modelId="{CC71AA43-3033-43A4-AC90-5EF457CBE454}" type="sibTrans" cxnId="{5574FC4D-3339-4A83-8C89-94AEADC7852B}">
      <dgm:prSet/>
      <dgm:spPr/>
      <dgm:t>
        <a:bodyPr/>
        <a:lstStyle/>
        <a:p>
          <a:endParaRPr lang="en-US"/>
        </a:p>
      </dgm:t>
    </dgm:pt>
    <dgm:pt modelId="{3C013967-A679-40AC-A07F-011B2EAF3F5E}">
      <dgm:prSet phldrT="[Text]"/>
      <dgm:spPr/>
      <dgm:t>
        <a:bodyPr/>
        <a:lstStyle/>
        <a:p>
          <a:r>
            <a:rPr lang="en-US" dirty="0"/>
            <a:t>Algorithm</a:t>
          </a:r>
        </a:p>
      </dgm:t>
    </dgm:pt>
    <dgm:pt modelId="{CF05CB12-71D2-48FD-88AB-075454A4D856}" type="parTrans" cxnId="{E366D625-3B07-4A97-85A0-CFE2D7388550}">
      <dgm:prSet/>
      <dgm:spPr/>
      <dgm:t>
        <a:bodyPr/>
        <a:lstStyle/>
        <a:p>
          <a:endParaRPr lang="en-US"/>
        </a:p>
      </dgm:t>
    </dgm:pt>
    <dgm:pt modelId="{9B11575A-C919-4A98-963C-ABF2F6D7107B}" type="sibTrans" cxnId="{E366D625-3B07-4A97-85A0-CFE2D7388550}">
      <dgm:prSet/>
      <dgm:spPr/>
      <dgm:t>
        <a:bodyPr/>
        <a:lstStyle/>
        <a:p>
          <a:endParaRPr lang="en-US"/>
        </a:p>
      </dgm:t>
    </dgm:pt>
    <dgm:pt modelId="{D8AFC951-95C8-4CCA-B56D-9A607F2D0A5B}">
      <dgm:prSet phldrT="[Text]"/>
      <dgm:spPr/>
      <dgm:t>
        <a:bodyPr/>
        <a:lstStyle/>
        <a:p>
          <a:r>
            <a:rPr lang="en-US" dirty="0"/>
            <a:t>Results</a:t>
          </a:r>
        </a:p>
      </dgm:t>
    </dgm:pt>
    <dgm:pt modelId="{4FC521D4-6F24-4D92-9F07-F226176C1F57}" type="parTrans" cxnId="{603B1204-9AFA-4A50-B821-17CE8F9C7EF2}">
      <dgm:prSet/>
      <dgm:spPr/>
      <dgm:t>
        <a:bodyPr/>
        <a:lstStyle/>
        <a:p>
          <a:endParaRPr lang="en-US"/>
        </a:p>
      </dgm:t>
    </dgm:pt>
    <dgm:pt modelId="{E0BC4B59-5E8E-4771-916A-0C290798B9D9}" type="sibTrans" cxnId="{603B1204-9AFA-4A50-B821-17CE8F9C7EF2}">
      <dgm:prSet/>
      <dgm:spPr/>
      <dgm:t>
        <a:bodyPr/>
        <a:lstStyle/>
        <a:p>
          <a:endParaRPr lang="en-US"/>
        </a:p>
      </dgm:t>
    </dgm:pt>
    <dgm:pt modelId="{329F2D17-AD16-4D80-AEE0-777F83B396E3}">
      <dgm:prSet phldrT="[Text]"/>
      <dgm:spPr/>
      <dgm:t>
        <a:bodyPr/>
        <a:lstStyle/>
        <a:p>
          <a:r>
            <a:rPr lang="en-US" dirty="0"/>
            <a:t>Industrial Applications</a:t>
          </a:r>
        </a:p>
      </dgm:t>
    </dgm:pt>
    <dgm:pt modelId="{6B476CFB-C45E-4DDF-9CA4-B8776B2A613A}" type="parTrans" cxnId="{66F0540F-4076-4F94-98C2-1FE5A9FC8D17}">
      <dgm:prSet/>
      <dgm:spPr/>
      <dgm:t>
        <a:bodyPr/>
        <a:lstStyle/>
        <a:p>
          <a:endParaRPr lang="en-US"/>
        </a:p>
      </dgm:t>
    </dgm:pt>
    <dgm:pt modelId="{86AF5ED6-ADAD-46BE-BF0E-2CD3C32BEC53}" type="sibTrans" cxnId="{66F0540F-4076-4F94-98C2-1FE5A9FC8D17}">
      <dgm:prSet/>
      <dgm:spPr/>
      <dgm:t>
        <a:bodyPr/>
        <a:lstStyle/>
        <a:p>
          <a:endParaRPr lang="en-US"/>
        </a:p>
      </dgm:t>
    </dgm:pt>
    <dgm:pt modelId="{57C12D8A-8C1A-46FA-84F1-38B90103E378}">
      <dgm:prSet phldrT="[Text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Design</a:t>
          </a:r>
          <a:endParaRPr dirty="0"/>
        </a:p>
      </dgm:t>
    </dgm:pt>
    <dgm:pt modelId="{1968DED8-ACED-4292-8486-37DB0096021E}" type="sibTrans" cxnId="{6BF43CB6-84CE-4F06-BA2B-D2A8CD899011}">
      <dgm:prSet/>
      <dgm:spPr/>
      <dgm:t>
        <a:bodyPr/>
        <a:lstStyle/>
        <a:p>
          <a:endParaRPr lang="en-GB"/>
        </a:p>
      </dgm:t>
    </dgm:pt>
    <dgm:pt modelId="{16B0FAB9-2ED4-4AD2-9351-95F4018D9271}" type="parTrans" cxnId="{6BF43CB6-84CE-4F06-BA2B-D2A8CD899011}">
      <dgm:prSet/>
      <dgm:spPr/>
      <dgm:t>
        <a:bodyPr/>
        <a:lstStyle/>
        <a:p>
          <a:endParaRPr lang="en-GB"/>
        </a:p>
      </dgm:t>
    </dgm:pt>
    <dgm:pt modelId="{A340FE11-8F3B-4009-91BB-F15F526F7E94}">
      <dgm:prSet/>
      <dgm:spPr/>
      <dgm:t>
        <a:bodyPr/>
        <a:lstStyle/>
        <a:p>
          <a:r>
            <a:rPr lang="en-US"/>
            <a:t>Future Work</a:t>
          </a:r>
          <a:endParaRPr lang="en-US" dirty="0"/>
        </a:p>
      </dgm:t>
    </dgm:pt>
    <dgm:pt modelId="{564472D5-5A9A-44D3-9FB4-52F1900B1553}" type="parTrans" cxnId="{A97D035C-E9F1-40BE-A5EE-048FBEF592FF}">
      <dgm:prSet/>
      <dgm:spPr/>
      <dgm:t>
        <a:bodyPr/>
        <a:lstStyle/>
        <a:p>
          <a:endParaRPr lang="en-US"/>
        </a:p>
      </dgm:t>
    </dgm:pt>
    <dgm:pt modelId="{22EC1CC9-0432-4BF1-B184-7D43E69E7654}" type="sibTrans" cxnId="{A97D035C-E9F1-40BE-A5EE-048FBEF592FF}">
      <dgm:prSet/>
      <dgm:spPr/>
      <dgm:t>
        <a:bodyPr/>
        <a:lstStyle/>
        <a:p>
          <a:endParaRPr lang="en-US"/>
        </a:p>
      </dgm:t>
    </dgm:pt>
    <dgm:pt modelId="{55E0A832-F3A2-4621-A966-415873BDA86E}" type="pres">
      <dgm:prSet presAssocID="{A329689B-F547-49DA-879F-C70B8A8AD99C}" presName="linear" presStyleCnt="0">
        <dgm:presLayoutVars>
          <dgm:animLvl val="lvl"/>
          <dgm:resizeHandles val="exact"/>
        </dgm:presLayoutVars>
      </dgm:prSet>
      <dgm:spPr/>
    </dgm:pt>
    <dgm:pt modelId="{EE737F8B-6CDA-4ED8-84A5-A7DAEE1ED570}" type="pres">
      <dgm:prSet presAssocID="{06E64568-4A38-45A8-B57F-319E251301EB}" presName="parentText" presStyleLbl="node1" presStyleIdx="0" presStyleCnt="7" custLinFactY="-67663" custLinFactNeighborX="8694" custLinFactNeighborY="-100000">
        <dgm:presLayoutVars>
          <dgm:chMax val="0"/>
          <dgm:bulletEnabled val="1"/>
        </dgm:presLayoutVars>
      </dgm:prSet>
      <dgm:spPr/>
    </dgm:pt>
    <dgm:pt modelId="{69C80E01-2338-4C11-BDCB-0C4143B59C34}" type="pres">
      <dgm:prSet presAssocID="{4E841D98-A062-4A9F-BE7E-203B0A7DCD9F}" presName="spacer" presStyleCnt="0"/>
      <dgm:spPr/>
    </dgm:pt>
    <dgm:pt modelId="{DE097859-5A11-4876-ABDC-53BE8D492093}" type="pres">
      <dgm:prSet presAssocID="{C61D7E84-214E-4ED2-81F0-A9A6F9386EB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610B8024-9ADB-4D7C-B967-23721742D6DA}" type="pres">
      <dgm:prSet presAssocID="{CC71AA43-3033-43A4-AC90-5EF457CBE454}" presName="spacer" presStyleCnt="0"/>
      <dgm:spPr/>
    </dgm:pt>
    <dgm:pt modelId="{8E7CE953-9633-4AE0-8102-CA39EEA75DC2}" type="pres">
      <dgm:prSet presAssocID="{57C12D8A-8C1A-46FA-84F1-38B90103E378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9101847C-CC88-4D50-BE30-C0AF8ADDDB79}" type="pres">
      <dgm:prSet presAssocID="{1968DED8-ACED-4292-8486-37DB0096021E}" presName="spacer" presStyleCnt="0"/>
      <dgm:spPr/>
    </dgm:pt>
    <dgm:pt modelId="{B1896AFD-4E7A-4664-B756-8A776AF54679}" type="pres">
      <dgm:prSet presAssocID="{3C013967-A679-40AC-A07F-011B2EAF3F5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EBEBC8A-B878-468A-8B77-0374EA8A6D83}" type="pres">
      <dgm:prSet presAssocID="{9B11575A-C919-4A98-963C-ABF2F6D7107B}" presName="spacer" presStyleCnt="0"/>
      <dgm:spPr/>
    </dgm:pt>
    <dgm:pt modelId="{733AC3BE-5D73-41C0-AA44-65F8BBF973C9}" type="pres">
      <dgm:prSet presAssocID="{D8AFC951-95C8-4CCA-B56D-9A607F2D0A5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2C82733-3451-4B57-9032-A18975E8BE69}" type="pres">
      <dgm:prSet presAssocID="{E0BC4B59-5E8E-4771-916A-0C290798B9D9}" presName="spacer" presStyleCnt="0"/>
      <dgm:spPr/>
    </dgm:pt>
    <dgm:pt modelId="{27EA81C7-4534-411F-A83B-9455757B4A4A}" type="pres">
      <dgm:prSet presAssocID="{329F2D17-AD16-4D80-AEE0-777F83B396E3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B57D0B07-EFF5-4409-83BE-68B304B7C421}" type="pres">
      <dgm:prSet presAssocID="{86AF5ED6-ADAD-46BE-BF0E-2CD3C32BEC53}" presName="spacer" presStyleCnt="0"/>
      <dgm:spPr/>
    </dgm:pt>
    <dgm:pt modelId="{3569FAE4-8725-4726-8EC9-66F9477FE6DC}" type="pres">
      <dgm:prSet presAssocID="{A340FE11-8F3B-4009-91BB-F15F526F7E94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03B1204-9AFA-4A50-B821-17CE8F9C7EF2}" srcId="{A329689B-F547-49DA-879F-C70B8A8AD99C}" destId="{D8AFC951-95C8-4CCA-B56D-9A607F2D0A5B}" srcOrd="4" destOrd="0" parTransId="{4FC521D4-6F24-4D92-9F07-F226176C1F57}" sibTransId="{E0BC4B59-5E8E-4771-916A-0C290798B9D9}"/>
    <dgm:cxn modelId="{E2FAB30D-7F82-45B1-BE90-0E25BF6BCE1C}" type="presOf" srcId="{C61D7E84-214E-4ED2-81F0-A9A6F9386EB9}" destId="{DE097859-5A11-4876-ABDC-53BE8D492093}" srcOrd="0" destOrd="0" presId="urn:microsoft.com/office/officeart/2005/8/layout/vList2#1"/>
    <dgm:cxn modelId="{66F0540F-4076-4F94-98C2-1FE5A9FC8D17}" srcId="{A329689B-F547-49DA-879F-C70B8A8AD99C}" destId="{329F2D17-AD16-4D80-AEE0-777F83B396E3}" srcOrd="5" destOrd="0" parTransId="{6B476CFB-C45E-4DDF-9CA4-B8776B2A613A}" sibTransId="{86AF5ED6-ADAD-46BE-BF0E-2CD3C32BEC53}"/>
    <dgm:cxn modelId="{2A625E1A-3A8C-4219-8F9C-46F0E9F0D67F}" type="presOf" srcId="{A340FE11-8F3B-4009-91BB-F15F526F7E94}" destId="{3569FAE4-8725-4726-8EC9-66F9477FE6DC}" srcOrd="0" destOrd="0" presId="urn:microsoft.com/office/officeart/2005/8/layout/vList2#1"/>
    <dgm:cxn modelId="{E366D625-3B07-4A97-85A0-CFE2D7388550}" srcId="{A329689B-F547-49DA-879F-C70B8A8AD99C}" destId="{3C013967-A679-40AC-A07F-011B2EAF3F5E}" srcOrd="3" destOrd="0" parTransId="{CF05CB12-71D2-48FD-88AB-075454A4D856}" sibTransId="{9B11575A-C919-4A98-963C-ABF2F6D7107B}"/>
    <dgm:cxn modelId="{E7D5BB2F-FB2F-46BC-B4D2-AA3F6A08E616}" type="presOf" srcId="{57C12D8A-8C1A-46FA-84F1-38B90103E378}" destId="{8E7CE953-9633-4AE0-8102-CA39EEA75DC2}" srcOrd="0" destOrd="0" presId="urn:microsoft.com/office/officeart/2005/8/layout/vList2#1"/>
    <dgm:cxn modelId="{C47CC033-FE11-4E9E-AEFB-75FF5A3C6922}" type="presOf" srcId="{A329689B-F547-49DA-879F-C70B8A8AD99C}" destId="{55E0A832-F3A2-4621-A966-415873BDA86E}" srcOrd="0" destOrd="0" presId="urn:microsoft.com/office/officeart/2005/8/layout/vList2#1"/>
    <dgm:cxn modelId="{A97D035C-E9F1-40BE-A5EE-048FBEF592FF}" srcId="{A329689B-F547-49DA-879F-C70B8A8AD99C}" destId="{A340FE11-8F3B-4009-91BB-F15F526F7E94}" srcOrd="6" destOrd="0" parTransId="{564472D5-5A9A-44D3-9FB4-52F1900B1553}" sibTransId="{22EC1CC9-0432-4BF1-B184-7D43E69E7654}"/>
    <dgm:cxn modelId="{58A2A85F-47DC-4C5D-8EE9-CDEB1E342B87}" srcId="{A329689B-F547-49DA-879F-C70B8A8AD99C}" destId="{06E64568-4A38-45A8-B57F-319E251301EB}" srcOrd="0" destOrd="0" parTransId="{464D738B-BCA1-460E-8AA6-44641D974FE8}" sibTransId="{4E841D98-A062-4A9F-BE7E-203B0A7DCD9F}"/>
    <dgm:cxn modelId="{233C8661-8BD5-4F8B-8F3F-E6B16FFB916A}" type="presOf" srcId="{3C013967-A679-40AC-A07F-011B2EAF3F5E}" destId="{B1896AFD-4E7A-4664-B756-8A776AF54679}" srcOrd="0" destOrd="0" presId="urn:microsoft.com/office/officeart/2005/8/layout/vList2#1"/>
    <dgm:cxn modelId="{5574FC4D-3339-4A83-8C89-94AEADC7852B}" srcId="{A329689B-F547-49DA-879F-C70B8A8AD99C}" destId="{C61D7E84-214E-4ED2-81F0-A9A6F9386EB9}" srcOrd="1" destOrd="0" parTransId="{E967C6D6-CFDF-4247-A242-7BF52A395F55}" sibTransId="{CC71AA43-3033-43A4-AC90-5EF457CBE454}"/>
    <dgm:cxn modelId="{74AD3783-6F13-422A-93A9-639251F7CDBC}" type="presOf" srcId="{D8AFC951-95C8-4CCA-B56D-9A607F2D0A5B}" destId="{733AC3BE-5D73-41C0-AA44-65F8BBF973C9}" srcOrd="0" destOrd="0" presId="urn:microsoft.com/office/officeart/2005/8/layout/vList2#1"/>
    <dgm:cxn modelId="{A5A52D85-CDA1-4A1A-BE15-D88EDEEEAD02}" type="presOf" srcId="{329F2D17-AD16-4D80-AEE0-777F83B396E3}" destId="{27EA81C7-4534-411F-A83B-9455757B4A4A}" srcOrd="0" destOrd="0" presId="urn:microsoft.com/office/officeart/2005/8/layout/vList2#1"/>
    <dgm:cxn modelId="{8BC819A6-AD50-41B6-8BB4-3666C6D9F4C1}" type="presOf" srcId="{06E64568-4A38-45A8-B57F-319E251301EB}" destId="{EE737F8B-6CDA-4ED8-84A5-A7DAEE1ED570}" srcOrd="0" destOrd="0" presId="urn:microsoft.com/office/officeart/2005/8/layout/vList2#1"/>
    <dgm:cxn modelId="{6BF43CB6-84CE-4F06-BA2B-D2A8CD899011}" srcId="{A329689B-F547-49DA-879F-C70B8A8AD99C}" destId="{57C12D8A-8C1A-46FA-84F1-38B90103E378}" srcOrd="2" destOrd="0" parTransId="{16B0FAB9-2ED4-4AD2-9351-95F4018D9271}" sibTransId="{1968DED8-ACED-4292-8486-37DB0096021E}"/>
    <dgm:cxn modelId="{53220662-BE5A-4971-BB1A-EA41FD62449D}" type="presParOf" srcId="{55E0A832-F3A2-4621-A966-415873BDA86E}" destId="{EE737F8B-6CDA-4ED8-84A5-A7DAEE1ED570}" srcOrd="0" destOrd="0" presId="urn:microsoft.com/office/officeart/2005/8/layout/vList2#1"/>
    <dgm:cxn modelId="{96C280F6-1B4F-422C-B874-C4677A83509F}" type="presParOf" srcId="{55E0A832-F3A2-4621-A966-415873BDA86E}" destId="{69C80E01-2338-4C11-BDCB-0C4143B59C34}" srcOrd="1" destOrd="0" presId="urn:microsoft.com/office/officeart/2005/8/layout/vList2#1"/>
    <dgm:cxn modelId="{8307E14E-98B1-4194-A36D-A196E8879C5F}" type="presParOf" srcId="{55E0A832-F3A2-4621-A966-415873BDA86E}" destId="{DE097859-5A11-4876-ABDC-53BE8D492093}" srcOrd="2" destOrd="0" presId="urn:microsoft.com/office/officeart/2005/8/layout/vList2#1"/>
    <dgm:cxn modelId="{D05C9838-C3CE-49A6-AA80-88BAA184D8C7}" type="presParOf" srcId="{55E0A832-F3A2-4621-A966-415873BDA86E}" destId="{610B8024-9ADB-4D7C-B967-23721742D6DA}" srcOrd="3" destOrd="0" presId="urn:microsoft.com/office/officeart/2005/8/layout/vList2#1"/>
    <dgm:cxn modelId="{1BC81466-AF33-4AAA-9098-72220128ADDA}" type="presParOf" srcId="{55E0A832-F3A2-4621-A966-415873BDA86E}" destId="{8E7CE953-9633-4AE0-8102-CA39EEA75DC2}" srcOrd="4" destOrd="0" presId="urn:microsoft.com/office/officeart/2005/8/layout/vList2#1"/>
    <dgm:cxn modelId="{DD26A4BC-C714-4F21-BCC8-01521B6A9097}" type="presParOf" srcId="{55E0A832-F3A2-4621-A966-415873BDA86E}" destId="{9101847C-CC88-4D50-BE30-C0AF8ADDDB79}" srcOrd="5" destOrd="0" presId="urn:microsoft.com/office/officeart/2005/8/layout/vList2#1"/>
    <dgm:cxn modelId="{62DA15DE-05F8-489D-86A6-F1E3D3864DB5}" type="presParOf" srcId="{55E0A832-F3A2-4621-A966-415873BDA86E}" destId="{B1896AFD-4E7A-4664-B756-8A776AF54679}" srcOrd="6" destOrd="0" presId="urn:microsoft.com/office/officeart/2005/8/layout/vList2#1"/>
    <dgm:cxn modelId="{EB3AEEFD-FCAB-4ED6-B02E-A62754F089A5}" type="presParOf" srcId="{55E0A832-F3A2-4621-A966-415873BDA86E}" destId="{5EBEBC8A-B878-468A-8B77-0374EA8A6D83}" srcOrd="7" destOrd="0" presId="urn:microsoft.com/office/officeart/2005/8/layout/vList2#1"/>
    <dgm:cxn modelId="{E90D17B5-B1F4-4BB8-912D-FDC89D144966}" type="presParOf" srcId="{55E0A832-F3A2-4621-A966-415873BDA86E}" destId="{733AC3BE-5D73-41C0-AA44-65F8BBF973C9}" srcOrd="8" destOrd="0" presId="urn:microsoft.com/office/officeart/2005/8/layout/vList2#1"/>
    <dgm:cxn modelId="{3A285A42-990B-4487-821D-B979D437DCA2}" type="presParOf" srcId="{55E0A832-F3A2-4621-A966-415873BDA86E}" destId="{52C82733-3451-4B57-9032-A18975E8BE69}" srcOrd="9" destOrd="0" presId="urn:microsoft.com/office/officeart/2005/8/layout/vList2#1"/>
    <dgm:cxn modelId="{CD49EBA6-8061-4075-A67B-7976C748DC37}" type="presParOf" srcId="{55E0A832-F3A2-4621-A966-415873BDA86E}" destId="{27EA81C7-4534-411F-A83B-9455757B4A4A}" srcOrd="10" destOrd="0" presId="urn:microsoft.com/office/officeart/2005/8/layout/vList2#1"/>
    <dgm:cxn modelId="{FAD02C94-6EA0-4D64-BCA2-84403E3802BD}" type="presParOf" srcId="{55E0A832-F3A2-4621-A966-415873BDA86E}" destId="{B57D0B07-EFF5-4409-83BE-68B304B7C421}" srcOrd="11" destOrd="0" presId="urn:microsoft.com/office/officeart/2005/8/layout/vList2#1"/>
    <dgm:cxn modelId="{AA7F8764-9831-47BF-9AE2-694FB24A65C1}" type="presParOf" srcId="{55E0A832-F3A2-4621-A966-415873BDA86E}" destId="{3569FAE4-8725-4726-8EC9-66F9477FE6DC}" srcOrd="12" destOrd="0" presId="urn:microsoft.com/office/officeart/2005/8/layout/vList2#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737F8B-6CDA-4ED8-84A5-A7DAEE1ED570}">
      <dsp:nvSpPr>
        <dsp:cNvPr id="0" name=""/>
        <dsp:cNvSpPr/>
      </dsp:nvSpPr>
      <dsp:spPr bwMode="white">
        <a:xfrm>
          <a:off x="0" y="0"/>
          <a:ext cx="5303837" cy="5662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satMod val="105000"/>
                <a:lumMod val="105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65000"/>
                <a:satMod val="10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Overview</a:t>
          </a:r>
        </a:p>
      </dsp:txBody>
      <dsp:txXfrm>
        <a:off x="27644" y="27644"/>
        <a:ext cx="5248549" cy="510992"/>
      </dsp:txXfrm>
    </dsp:sp>
    <dsp:sp modelId="{DE097859-5A11-4876-ABDC-53BE8D492093}">
      <dsp:nvSpPr>
        <dsp:cNvPr id="0" name=""/>
        <dsp:cNvSpPr/>
      </dsp:nvSpPr>
      <dsp:spPr bwMode="white">
        <a:xfrm>
          <a:off x="0" y="653885"/>
          <a:ext cx="5303837" cy="5662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satMod val="105000"/>
                <a:lumMod val="105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65000"/>
                <a:satMod val="10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Workflow</a:t>
          </a:r>
        </a:p>
      </dsp:txBody>
      <dsp:txXfrm>
        <a:off x="27644" y="681529"/>
        <a:ext cx="5248549" cy="510992"/>
      </dsp:txXfrm>
    </dsp:sp>
    <dsp:sp modelId="{8E7CE953-9633-4AE0-8102-CA39EEA75DC2}">
      <dsp:nvSpPr>
        <dsp:cNvPr id="0" name=""/>
        <dsp:cNvSpPr/>
      </dsp:nvSpPr>
      <dsp:spPr bwMode="white">
        <a:xfrm>
          <a:off x="0" y="1283525"/>
          <a:ext cx="5303837" cy="5662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satMod val="105000"/>
                <a:lumMod val="105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65000"/>
                <a:satMod val="10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Design</a:t>
          </a:r>
          <a:endParaRPr sz="2200" kern="1200" dirty="0"/>
        </a:p>
      </dsp:txBody>
      <dsp:txXfrm>
        <a:off x="27644" y="1311169"/>
        <a:ext cx="5248549" cy="510992"/>
      </dsp:txXfrm>
    </dsp:sp>
    <dsp:sp modelId="{B1896AFD-4E7A-4664-B756-8A776AF54679}">
      <dsp:nvSpPr>
        <dsp:cNvPr id="0" name=""/>
        <dsp:cNvSpPr/>
      </dsp:nvSpPr>
      <dsp:spPr bwMode="white">
        <a:xfrm>
          <a:off x="0" y="1913165"/>
          <a:ext cx="5303837" cy="5662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satMod val="105000"/>
                <a:lumMod val="105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65000"/>
                <a:satMod val="10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Algorithm</a:t>
          </a:r>
        </a:p>
      </dsp:txBody>
      <dsp:txXfrm>
        <a:off x="27644" y="1940809"/>
        <a:ext cx="5248549" cy="510992"/>
      </dsp:txXfrm>
    </dsp:sp>
    <dsp:sp modelId="{733AC3BE-5D73-41C0-AA44-65F8BBF973C9}">
      <dsp:nvSpPr>
        <dsp:cNvPr id="0" name=""/>
        <dsp:cNvSpPr/>
      </dsp:nvSpPr>
      <dsp:spPr bwMode="white">
        <a:xfrm>
          <a:off x="0" y="2542806"/>
          <a:ext cx="5303837" cy="5662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satMod val="105000"/>
                <a:lumMod val="105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65000"/>
                <a:satMod val="10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Results</a:t>
          </a:r>
        </a:p>
      </dsp:txBody>
      <dsp:txXfrm>
        <a:off x="27644" y="2570450"/>
        <a:ext cx="5248549" cy="510992"/>
      </dsp:txXfrm>
    </dsp:sp>
    <dsp:sp modelId="{27EA81C7-4534-411F-A83B-9455757B4A4A}">
      <dsp:nvSpPr>
        <dsp:cNvPr id="0" name=""/>
        <dsp:cNvSpPr/>
      </dsp:nvSpPr>
      <dsp:spPr bwMode="white">
        <a:xfrm>
          <a:off x="0" y="3172446"/>
          <a:ext cx="5303837" cy="5662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satMod val="105000"/>
                <a:lumMod val="105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65000"/>
                <a:satMod val="10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Industrial Applications</a:t>
          </a:r>
        </a:p>
      </dsp:txBody>
      <dsp:txXfrm>
        <a:off x="27644" y="3200090"/>
        <a:ext cx="5248549" cy="510992"/>
      </dsp:txXfrm>
    </dsp:sp>
    <dsp:sp modelId="{3569FAE4-8725-4726-8EC9-66F9477FE6DC}">
      <dsp:nvSpPr>
        <dsp:cNvPr id="0" name=""/>
        <dsp:cNvSpPr/>
      </dsp:nvSpPr>
      <dsp:spPr>
        <a:xfrm>
          <a:off x="0" y="3802086"/>
          <a:ext cx="5303837" cy="5662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satMod val="105000"/>
                <a:lumMod val="105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65000"/>
                <a:satMod val="100000"/>
                <a:lumMod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Future Work</a:t>
          </a:r>
          <a:endParaRPr lang="en-US" sz="2200" kern="1200" dirty="0"/>
        </a:p>
      </dsp:txBody>
      <dsp:txXfrm>
        <a:off x="27644" y="3829730"/>
        <a:ext cx="5248549" cy="5109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0F265C-9DF2-E8FB-C281-49A95720C6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688A12-072E-E9DD-75D8-792036B5CA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F0298-9D9B-42EE-9FBC-5BF5BA8C94E8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86D79-EFC6-014D-40F3-68F8FB024E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A9D36-8240-DBBB-128E-9E573BE9AC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436C1-A97E-48B9-A38A-E4B8449736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307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F15EC-E103-EA4C-8F3D-F70BFBFE368F}" type="datetimeFigureOut">
              <a:rPr lang="en-BD" smtClean="0"/>
              <a:t>04/04/2026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5D39E-BF79-5044-9B9C-292D64001D9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30034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Title of the Project</a:t>
            </a:r>
            <a:endParaRPr lang="en-BD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C9C879-EF2D-BA4E-B6A9-D4377737278E}"/>
              </a:ext>
            </a:extLst>
          </p:cNvPr>
          <p:cNvSpPr/>
          <p:nvPr userDrawn="1"/>
        </p:nvSpPr>
        <p:spPr>
          <a:xfrm>
            <a:off x="0" y="0"/>
            <a:ext cx="12192000" cy="15622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2400" dirty="0">
                <a:latin typeface="Arial" panose="020B0604020202020204" pitchFamily="34" charset="0"/>
                <a:cs typeface="Arial" panose="020B0604020202020204" pitchFamily="34" charset="0"/>
              </a:rPr>
              <a:t>EEE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404</a:t>
            </a:r>
            <a:r>
              <a:rPr lang="en-BD" sz="24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Robotics and Automation</a:t>
            </a:r>
            <a:r>
              <a:rPr lang="en-BD" sz="2400" dirty="0">
                <a:latin typeface="Arial" panose="020B0604020202020204" pitchFamily="34" charset="0"/>
                <a:cs typeface="Arial" panose="020B0604020202020204" pitchFamily="34" charset="0"/>
              </a:rPr>
              <a:t> Laboratory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D" sz="2800" dirty="0">
                <a:latin typeface="Arial" panose="020B0604020202020204" pitchFamily="34" charset="0"/>
                <a:cs typeface="Arial" panose="020B0604020202020204" pitchFamily="34" charset="0"/>
              </a:rPr>
              <a:t>Jan 202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en-BD" sz="2800" dirty="0">
                <a:latin typeface="Arial" panose="020B0604020202020204" pitchFamily="34" charset="0"/>
                <a:cs typeface="Arial" panose="020B0604020202020204" pitchFamily="34" charset="0"/>
              </a:rPr>
              <a:t>Level-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BD" sz="2800" dirty="0">
                <a:latin typeface="Arial" panose="020B0604020202020204" pitchFamily="34" charset="0"/>
                <a:cs typeface="Arial" panose="020B0604020202020204" pitchFamily="34" charset="0"/>
              </a:rPr>
              <a:t> Term-I </a:t>
            </a:r>
          </a:p>
          <a:p>
            <a:pPr algn="ctr"/>
            <a:r>
              <a:rPr lang="en-BD" sz="3600" dirty="0">
                <a:latin typeface="Arial" panose="020B0604020202020204" pitchFamily="34" charset="0"/>
                <a:cs typeface="Arial" panose="020B0604020202020204" pitchFamily="34" charset="0"/>
              </a:rPr>
              <a:t>Final Project Demonstration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99C6A4-662A-4C47-AB70-4A7A449F40AE}"/>
              </a:ext>
            </a:extLst>
          </p:cNvPr>
          <p:cNvSpPr/>
          <p:nvPr userDrawn="1"/>
        </p:nvSpPr>
        <p:spPr>
          <a:xfrm>
            <a:off x="0" y="5968657"/>
            <a:ext cx="12192000" cy="8893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865755" algn="ctr"/>
                <a:tab pos="5731510" algn="r"/>
              </a:tabLst>
            </a:pPr>
            <a:r>
              <a:rPr lang="en-US" sz="1800" cap="small" spc="16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Bangladesh University of Engineering and Technology</a:t>
            </a:r>
            <a:endParaRPr lang="en-GB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800" cap="small" spc="16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Department of Electrical and Electronic Engineering</a:t>
            </a:r>
            <a:endParaRPr lang="en-BD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9B5FDC4-269D-0A46-8DED-E482158D83E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4048"/>
          <a:stretch/>
        </p:blipFill>
        <p:spPr>
          <a:xfrm>
            <a:off x="1682496" y="6046044"/>
            <a:ext cx="793630" cy="73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92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839" y="6458843"/>
            <a:ext cx="3520949" cy="394119"/>
          </a:xfrm>
        </p:spPr>
        <p:txBody>
          <a:bodyPr/>
          <a:lstStyle/>
          <a:p>
            <a:r>
              <a:rPr lang="en-US" dirty="0"/>
              <a:t>EEE 404 (2026) – Final Project Group 4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741" y="6488938"/>
            <a:ext cx="8137773" cy="394119"/>
          </a:xfrm>
        </p:spPr>
        <p:txBody>
          <a:bodyPr/>
          <a:lstStyle/>
          <a:p>
            <a:pPr algn="ctr"/>
            <a:r>
              <a:rPr lang="en-US" dirty="0"/>
              <a:t>Swarm-Based Search and Rescue using VIO Localization and Target-Based Help Protocols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21943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7A532869-E847-B04C-9454-B1BBC68D6D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39C3B094-71D1-654C-855E-07B8BFC1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423745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10" name="Date Placeholder 5">
            <a:extLst>
              <a:ext uri="{FF2B5EF4-FFF2-40B4-BE49-F238E27FC236}">
                <a16:creationId xmlns:a16="http://schemas.microsoft.com/office/drawing/2014/main" id="{3AA596F9-6385-224E-8B6A-509678335D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1CB05F73-B36B-5A48-81EA-E76B1357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3184022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4A8BE3A-860F-304A-9628-0D1C6721E9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F763A-9E9F-6745-958E-87128C40B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1448220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7E522AF0-01E9-C04B-A4BD-1E790BA6B0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en-BD" dirty="0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6FE88DDB-FE65-5846-A692-EED395E9C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397047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852ED7D-C8C9-FC45-9D41-2B197068D5F8}"/>
              </a:ext>
            </a:extLst>
          </p:cNvPr>
          <p:cNvSpPr/>
          <p:nvPr userDrawn="1"/>
        </p:nvSpPr>
        <p:spPr>
          <a:xfrm>
            <a:off x="1" y="6457189"/>
            <a:ext cx="12192000" cy="413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493520"/>
            <a:ext cx="10058400" cy="4541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10950" y="6501638"/>
            <a:ext cx="521970" cy="3085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D083A58-BF4A-C247-A39E-31621332A2F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r="84048"/>
          <a:stretch/>
        </p:blipFill>
        <p:spPr>
          <a:xfrm>
            <a:off x="51125" y="6457189"/>
            <a:ext cx="381361" cy="352979"/>
          </a:xfrm>
          <a:prstGeom prst="rect">
            <a:avLst/>
          </a:prstGeom>
        </p:spPr>
      </p:pic>
      <p:sp>
        <p:nvSpPr>
          <p:cNvPr id="10" name="Date Placeholder 5">
            <a:extLst>
              <a:ext uri="{FF2B5EF4-FFF2-40B4-BE49-F238E27FC236}">
                <a16:creationId xmlns:a16="http://schemas.microsoft.com/office/drawing/2014/main" id="{576C60AE-BF9F-E948-A464-57EC6013B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2486" y="6501637"/>
            <a:ext cx="3968064" cy="3941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EEE </a:t>
            </a:r>
            <a:r>
              <a:rPr lang="en-US" dirty="0" err="1"/>
              <a:t>xyz</a:t>
            </a:r>
            <a:r>
              <a:rPr lang="en-US" dirty="0"/>
              <a:t> (202z) – Final Project Group A.XY</a:t>
            </a:r>
            <a:endParaRPr lang="en-BD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DCD1120D-AD02-624F-AC7B-A52A109EC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00550" y="6507645"/>
            <a:ext cx="5000625" cy="375412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BD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415582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3" r:id="rId3"/>
    <p:sldLayoutId id="2147483714" r:id="rId4"/>
    <p:sldLayoutId id="2147483715" r:id="rId5"/>
    <p:sldLayoutId id="2147483716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 group of flying drones over a flooded area&#10;&#10;AI-generated content may be incorrect.">
            <a:extLst>
              <a:ext uri="{FF2B5EF4-FFF2-40B4-BE49-F238E27FC236}">
                <a16:creationId xmlns:a16="http://schemas.microsoft.com/office/drawing/2014/main" id="{AEDB557B-883F-B642-8577-6498598B70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62000"/>
          </a:blip>
          <a:srcRect t="16268" b="16268"/>
          <a:stretch>
            <a:fillRect/>
          </a:stretch>
        </p:blipFill>
        <p:spPr bwMode="auto">
          <a:xfrm>
            <a:off x="-3481" y="1542768"/>
            <a:ext cx="12195652" cy="442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46C925-AD3C-084C-A393-173805EA7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481" y="1788562"/>
            <a:ext cx="11923789" cy="1607946"/>
          </a:xfrm>
        </p:spPr>
        <p:txBody>
          <a:bodyPr/>
          <a:lstStyle/>
          <a:p>
            <a:r>
              <a:rPr lang="en-US" sz="5400" cap="none" dirty="0">
                <a:solidFill>
                  <a:srgbClr val="262626"/>
                </a:solidFill>
                <a:highlight>
                  <a:srgbClr val="C0C0C0"/>
                </a:highlight>
                <a:ea typeface="+mj-lt"/>
                <a:cs typeface="+mj-lt"/>
              </a:rPr>
              <a:t>HIVE-R: Bio-Inspired Swarm Drone System for Human Detection in GPS-Denied Rescue Environments </a:t>
            </a:r>
            <a:endParaRPr lang="en-US" sz="5400" cap="none" dirty="0">
              <a:highlight>
                <a:srgbClr val="C0C0C0"/>
              </a:highlight>
              <a:latin typeface="Arial Black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F0DBAF-7D79-1641-9F57-35E40E2F3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4364" y="5077637"/>
            <a:ext cx="2350475" cy="885432"/>
          </a:xfrm>
        </p:spPr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Adnan Hamim</a:t>
            </a:r>
            <a:endParaRPr lang="en-BD" dirty="0">
              <a:highlight>
                <a:srgbClr val="C0C0C0"/>
              </a:highlight>
            </a:endParaRPr>
          </a:p>
          <a:p>
            <a:r>
              <a:rPr lang="en-US" sz="2800" dirty="0">
                <a:highlight>
                  <a:srgbClr val="C0C0C0"/>
                </a:highlight>
              </a:rPr>
              <a:t>2006124</a:t>
            </a:r>
            <a:endParaRPr lang="en-BD" sz="2000" dirty="0">
              <a:highlight>
                <a:srgbClr val="C0C0C0"/>
              </a:highligh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3D65FC9-0D80-444D-8239-028EF0E63ED0}"/>
              </a:ext>
            </a:extLst>
          </p:cNvPr>
          <p:cNvSpPr txBox="1">
            <a:spLocks/>
          </p:cNvSpPr>
          <p:nvPr/>
        </p:nvSpPr>
        <p:spPr>
          <a:xfrm>
            <a:off x="2949524" y="5077637"/>
            <a:ext cx="2350475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Md.Fahim</a:t>
            </a:r>
            <a:endParaRPr lang="en-BD" dirty="0"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2006128</a:t>
            </a:r>
            <a:endParaRPr lang="en-BD" sz="2800" dirty="0"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D4ABD83-8F2E-FD4E-B18C-2299D6E2E152}"/>
              </a:ext>
            </a:extLst>
          </p:cNvPr>
          <p:cNvSpPr txBox="1">
            <a:spLocks/>
          </p:cNvSpPr>
          <p:nvPr/>
        </p:nvSpPr>
        <p:spPr>
          <a:xfrm>
            <a:off x="4884528" y="3554820"/>
            <a:ext cx="3033537" cy="8854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D" sz="2000" cap="small" dirty="0"/>
              <a:t>Submitted by – Group 4</a:t>
            </a:r>
            <a:endParaRPr lang="en-BD" sz="3600" cap="small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B74ABDA-11C0-7C43-8041-3445AA68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6919" y="5631180"/>
            <a:ext cx="2111881" cy="228600"/>
          </a:xfrm>
        </p:spPr>
        <p:txBody>
          <a:bodyPr/>
          <a:lstStyle/>
          <a:p>
            <a:fld id="{E9C29D53-9981-884B-B5B6-B5743DF81FD1}" type="slidenum">
              <a:rPr lang="en-BD" smtClean="0"/>
              <a:t>1</a:t>
            </a:fld>
            <a:endParaRPr lang="en-BD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58652A-1691-06C3-2B64-39B57252B2B6}"/>
              </a:ext>
            </a:extLst>
          </p:cNvPr>
          <p:cNvSpPr txBox="1">
            <a:spLocks/>
          </p:cNvSpPr>
          <p:nvPr/>
        </p:nvSpPr>
        <p:spPr>
          <a:xfrm>
            <a:off x="5038648" y="5091667"/>
            <a:ext cx="2350475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Raisa Nusrat</a:t>
            </a:r>
            <a:endParaRPr lang="en-BD" dirty="0"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2006132</a:t>
            </a:r>
            <a:endParaRPr lang="en-BD" sz="2800" dirty="0"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A973590-52CE-1A31-2EAC-99CA1A8C0403}"/>
              </a:ext>
            </a:extLst>
          </p:cNvPr>
          <p:cNvSpPr txBox="1">
            <a:spLocks/>
          </p:cNvSpPr>
          <p:nvPr/>
        </p:nvSpPr>
        <p:spPr>
          <a:xfrm>
            <a:off x="7193087" y="5069438"/>
            <a:ext cx="2350475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Md </a:t>
            </a:r>
            <a:r>
              <a:rPr lang="en-US" dirty="0" err="1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Jaied</a:t>
            </a:r>
            <a:r>
              <a:rPr lang="en-US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Hasan</a:t>
            </a:r>
            <a:endParaRPr lang="en-BD" dirty="0"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2006146</a:t>
            </a:r>
            <a:endParaRPr lang="en-BD" sz="2800" dirty="0"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9FE32620-9B79-63D9-ACA7-4DD99302D89C}"/>
              </a:ext>
            </a:extLst>
          </p:cNvPr>
          <p:cNvSpPr txBox="1">
            <a:spLocks/>
          </p:cNvSpPr>
          <p:nvPr/>
        </p:nvSpPr>
        <p:spPr>
          <a:xfrm>
            <a:off x="9478248" y="5079421"/>
            <a:ext cx="2350475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Asif Hasan</a:t>
            </a:r>
            <a:endParaRPr lang="en-BD" dirty="0"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2006189</a:t>
            </a:r>
            <a:endParaRPr lang="en-BD" sz="2800" dirty="0"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246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3012B-84B9-7349-A96C-D843A369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16421-CA9E-E344-9555-2F9A2A519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</a:t>
            </a:fld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EB6EC-D213-9F48-8356-86C62AC1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3511985" cy="375412"/>
          </a:xfrm>
        </p:spPr>
        <p:txBody>
          <a:bodyPr/>
          <a:lstStyle/>
          <a:p>
            <a:r>
              <a:rPr lang="en-US" dirty="0"/>
              <a:t>EEE 404(2026) – Final Project Group 4</a:t>
            </a:r>
            <a:endParaRPr lang="en-BD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B0E6E-7910-2644-9BBD-C431B66B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96218" y="6499838"/>
            <a:ext cx="5951832" cy="375412"/>
          </a:xfrm>
        </p:spPr>
        <p:txBody>
          <a:bodyPr/>
          <a:lstStyle/>
          <a:p>
            <a:r>
              <a:rPr lang="en-US" dirty="0"/>
              <a:t>HIVE-R</a:t>
            </a:r>
            <a:endParaRPr lang="en-BD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E2767B4-4E68-AE60-E7CE-FC5BC6873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021451"/>
              </p:ext>
            </p:extLst>
          </p:nvPr>
        </p:nvGraphicFramePr>
        <p:xfrm>
          <a:off x="1205076" y="1399382"/>
          <a:ext cx="5303837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7328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019EF6-C9F9-8E4B-90AC-5D229CB1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39398"/>
            <a:ext cx="10058400" cy="729006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Overview</a:t>
            </a:r>
            <a:endParaRPr lang="en-BD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B2C38B-4AC5-9248-B4C6-67239E72D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002231"/>
            <a:ext cx="10058400" cy="454152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1800" b="1" dirty="0"/>
          </a:p>
          <a:p>
            <a:pPr marL="285750" indent="-285750">
              <a:buClr>
                <a:srgbClr val="262626"/>
              </a:buClr>
              <a:buFont typeface="Wingdings" pitchFamily="18" charset="0"/>
              <a:buChar char="q"/>
            </a:pPr>
            <a:r>
              <a:rPr lang="en-US" sz="1800">
                <a:latin typeface="Arial"/>
                <a:cs typeface="Arial"/>
              </a:rPr>
              <a:t>This project presents an </a:t>
            </a:r>
            <a:r>
              <a:rPr lang="en-US" sz="1800" b="1">
                <a:latin typeface="Arial"/>
                <a:cs typeface="Arial"/>
              </a:rPr>
              <a:t>autonomous swarm drone system</a:t>
            </a:r>
            <a:r>
              <a:rPr lang="en-US" sz="1800">
                <a:latin typeface="Arial"/>
                <a:cs typeface="Arial"/>
              </a:rPr>
              <a:t> designed for </a:t>
            </a:r>
            <a:r>
              <a:rPr lang="en-US" sz="1800" b="1">
                <a:latin typeface="Arial"/>
                <a:cs typeface="Arial"/>
              </a:rPr>
              <a:t>search and rescue (SAR)</a:t>
            </a:r>
            <a:r>
              <a:rPr lang="en-US" sz="1800">
                <a:latin typeface="Arial"/>
                <a:cs typeface="Arial"/>
              </a:rPr>
              <a:t> operations in flood-affected and </a:t>
            </a:r>
            <a:r>
              <a:rPr lang="en-US" sz="1800" b="1">
                <a:latin typeface="Arial"/>
                <a:cs typeface="Arial"/>
              </a:rPr>
              <a:t>GPS-denied environments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>
                <a:latin typeface="Arial"/>
                <a:cs typeface="Arial"/>
              </a:rPr>
              <a:t>(indoor and outdoor). </a:t>
            </a:r>
            <a:endParaRPr lang="en-US" sz="1800"/>
          </a:p>
          <a:p>
            <a:pPr marL="285750" indent="-285750">
              <a:buClr>
                <a:srgbClr val="262626"/>
              </a:buClr>
              <a:buFont typeface="Wingdings" pitchFamily="18" charset="0"/>
              <a:buChar char="q"/>
            </a:pPr>
            <a:r>
              <a:rPr lang="en-US" sz="1800" dirty="0">
                <a:latin typeface="Arial"/>
                <a:cs typeface="Arial"/>
              </a:rPr>
              <a:t>Each drone in the swarm operates independently using </a:t>
            </a:r>
            <a:r>
              <a:rPr lang="en-US" sz="1800" b="1" dirty="0">
                <a:latin typeface="Arial"/>
                <a:cs typeface="Arial"/>
              </a:rPr>
              <a:t>Visual Odometry (SLAM)</a:t>
            </a:r>
            <a:r>
              <a:rPr lang="en-US" sz="1800" dirty="0">
                <a:latin typeface="Arial"/>
                <a:cs typeface="Arial"/>
              </a:rPr>
              <a:t> to perform real-time </a:t>
            </a:r>
            <a:r>
              <a:rPr lang="en-US" sz="1800" b="1" dirty="0">
                <a:latin typeface="Arial"/>
                <a:cs typeface="Arial"/>
              </a:rPr>
              <a:t>localization and mapping</a:t>
            </a:r>
            <a:r>
              <a:rPr lang="en-US" sz="1800" dirty="0">
                <a:latin typeface="Arial"/>
                <a:cs typeface="Arial"/>
              </a:rPr>
              <a:t>, effectively creating a </a:t>
            </a:r>
            <a:r>
              <a:rPr lang="en-US" sz="1800" b="1" dirty="0">
                <a:latin typeface="Arial"/>
                <a:cs typeface="Arial"/>
              </a:rPr>
              <a:t>fake GPS framework</a:t>
            </a:r>
            <a:r>
              <a:rPr lang="en-US" sz="1800" dirty="0">
                <a:latin typeface="Arial"/>
                <a:cs typeface="Arial"/>
              </a:rPr>
              <a:t> for navigation. </a:t>
            </a:r>
            <a:endParaRPr lang="en-US" sz="1800"/>
          </a:p>
          <a:p>
            <a:pPr marL="285750" indent="-285750">
              <a:buClr>
                <a:srgbClr val="262626"/>
              </a:buClr>
              <a:buFont typeface="Wingdings" pitchFamily="18" charset="0"/>
              <a:buChar char="q"/>
            </a:pPr>
            <a:r>
              <a:rPr lang="en-US" sz="1800">
                <a:latin typeface="Arial"/>
                <a:cs typeface="Arial"/>
              </a:rPr>
              <a:t>The system enables </a:t>
            </a:r>
            <a:r>
              <a:rPr lang="en-US" sz="1800" b="1">
                <a:latin typeface="Arial"/>
                <a:cs typeface="Arial"/>
              </a:rPr>
              <a:t>coordinated area coverage</a:t>
            </a:r>
            <a:r>
              <a:rPr lang="en-US" sz="1800">
                <a:latin typeface="Arial"/>
                <a:cs typeface="Arial"/>
              </a:rPr>
              <a:t> through multiple drones, improving search efficiency and reducing rescue time in critical situations. </a:t>
            </a:r>
            <a:endParaRPr lang="en-US" sz="1800" dirty="0">
              <a:latin typeface="Arial"/>
              <a:cs typeface="Arial"/>
            </a:endParaRPr>
          </a:p>
          <a:p>
            <a:pPr marL="285750" indent="-285750">
              <a:buClr>
                <a:srgbClr val="262626"/>
              </a:buClr>
              <a:buFont typeface="Wingdings" pitchFamily="18" charset="0"/>
              <a:buChar char="q"/>
            </a:pPr>
            <a:r>
              <a:rPr lang="en-US" sz="1800" dirty="0">
                <a:latin typeface="Arial"/>
                <a:cs typeface="Arial"/>
              </a:rPr>
              <a:t>The drone is equipped with </a:t>
            </a:r>
            <a:r>
              <a:rPr lang="en-US" sz="1800" b="1" dirty="0">
                <a:latin typeface="Arial"/>
                <a:cs typeface="Arial"/>
              </a:rPr>
              <a:t>AI-based human detection</a:t>
            </a:r>
            <a:r>
              <a:rPr lang="en-US" sz="1800" dirty="0">
                <a:latin typeface="Arial"/>
                <a:cs typeface="Arial"/>
              </a:rPr>
              <a:t>, capable of identifying victims even in </a:t>
            </a:r>
            <a:r>
              <a:rPr lang="en-US" sz="1800" b="1" dirty="0">
                <a:latin typeface="Arial"/>
                <a:cs typeface="Arial"/>
              </a:rPr>
              <a:t>low-visibility or fuzzy environments</a:t>
            </a:r>
            <a:r>
              <a:rPr lang="en-US" sz="1800" dirty="0">
                <a:latin typeface="Arial"/>
                <a:cs typeface="Arial"/>
              </a:rPr>
              <a:t>. </a:t>
            </a:r>
            <a:endParaRPr lang="en-BD" sz="1800"/>
          </a:p>
          <a:p>
            <a:pPr marL="285750" indent="-285750">
              <a:buClr>
                <a:srgbClr val="262626"/>
              </a:buClr>
              <a:buFont typeface="Wingdings" pitchFamily="18" charset="0"/>
              <a:buChar char="q"/>
            </a:pPr>
            <a:r>
              <a:rPr lang="en-US" sz="1800">
                <a:latin typeface="Arial"/>
                <a:cs typeface="Arial"/>
              </a:rPr>
              <a:t>A </a:t>
            </a:r>
            <a:r>
              <a:rPr lang="en-US" sz="1800" b="1">
                <a:latin typeface="Arial"/>
                <a:cs typeface="Arial"/>
              </a:rPr>
              <a:t>target-based help protocol</a:t>
            </a:r>
            <a:r>
              <a:rPr lang="en-US" sz="1800">
                <a:latin typeface="Arial"/>
                <a:cs typeface="Arial"/>
              </a:rPr>
              <a:t> ensures detected victim locations are shared across the swarm or control center for </a:t>
            </a:r>
            <a:r>
              <a:rPr lang="en-US" sz="1800" b="1">
                <a:latin typeface="Arial"/>
                <a:cs typeface="Arial"/>
              </a:rPr>
              <a:t>rapid response and rescue planning</a:t>
            </a:r>
            <a:r>
              <a:rPr lang="en-US" sz="1800">
                <a:latin typeface="Arial"/>
                <a:cs typeface="Arial"/>
              </a:rPr>
              <a:t>. </a:t>
            </a:r>
            <a:endParaRPr lang="en-US" sz="1800" dirty="0">
              <a:latin typeface="Arial"/>
              <a:cs typeface="Arial"/>
            </a:endParaRPr>
          </a:p>
          <a:p>
            <a:pPr marL="285750" indent="-285750">
              <a:buClr>
                <a:srgbClr val="262626"/>
              </a:buClr>
              <a:buFont typeface="Wingdings" pitchFamily="18" charset="0"/>
              <a:buChar char="q"/>
            </a:pPr>
            <a:r>
              <a:rPr lang="en-US" sz="1800">
                <a:latin typeface="Arial"/>
                <a:cs typeface="Arial"/>
              </a:rPr>
              <a:t>The system is designed to be </a:t>
            </a:r>
            <a:r>
              <a:rPr lang="en-US" sz="1800" b="1">
                <a:latin typeface="Arial"/>
                <a:cs typeface="Arial"/>
              </a:rPr>
              <a:t>scalable, robust, and reliable</a:t>
            </a:r>
            <a:r>
              <a:rPr lang="en-US" sz="1800">
                <a:latin typeface="Arial"/>
                <a:cs typeface="Arial"/>
              </a:rPr>
              <a:t> for real-world disaster scenarios where traditional GPS-based navigation fails.</a:t>
            </a:r>
            <a:endParaRPr lang="en-BD" sz="1800"/>
          </a:p>
          <a:p>
            <a:pPr>
              <a:buClr>
                <a:srgbClr val="262626"/>
              </a:buClr>
              <a:buFont typeface="Wingdings" pitchFamily="18" charset="0"/>
              <a:buChar char="q"/>
            </a:pPr>
            <a:endParaRPr lang="en-BD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 dirty="0"/>
              <a:t>EEE 404 (2026) – Final Project Group 4</a:t>
            </a:r>
            <a:endParaRPr lang="en-BD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en-US" dirty="0"/>
              <a:t>HIVE-R</a:t>
            </a:r>
            <a:endParaRPr lang="en-BD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278554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18470-B786-FD38-AA33-592AD16D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1C5EB0-83F2-A572-E1E3-590953354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280" y="176838"/>
            <a:ext cx="10058400" cy="729006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Workflow</a:t>
            </a:r>
            <a:endParaRPr lang="en-BD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A662075-A6E3-DAB7-1E63-654517907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 dirty="0"/>
              <a:t>EEE 404 (2026) – Final Project Group 4</a:t>
            </a:r>
            <a:endParaRPr lang="en-BD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27BD7A-96E0-744C-5B2F-826C4985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en-US" dirty="0"/>
              <a:t>HIVE-R</a:t>
            </a:r>
            <a:endParaRPr lang="en-BD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CFEED7-C820-917D-7890-CB0CC2874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</a:t>
            </a:fld>
            <a:endParaRPr lang="en-BD"/>
          </a:p>
        </p:txBody>
      </p:sp>
      <p:pic>
        <p:nvPicPr>
          <p:cNvPr id="9" name="Content Placeholder 10" descr="A diagram of a drone&#10;&#10;AI-generated content may be incorrect.">
            <a:extLst>
              <a:ext uri="{FF2B5EF4-FFF2-40B4-BE49-F238E27FC236}">
                <a16:creationId xmlns:a16="http://schemas.microsoft.com/office/drawing/2014/main" id="{7061762E-2C6B-5671-BF83-E9DDA4668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395" y="1068404"/>
            <a:ext cx="9585156" cy="539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879" y="98767"/>
            <a:ext cx="10058400" cy="729006"/>
          </a:xfrm>
        </p:spPr>
        <p:txBody>
          <a:bodyPr>
            <a:normAutofit/>
          </a:bodyPr>
          <a:lstStyle/>
          <a:p>
            <a:r>
              <a:rPr lang="en-US">
                <a:latin typeface="Arial"/>
                <a:cs typeface="Arial"/>
              </a:rPr>
              <a:t>Design</a:t>
            </a:r>
            <a:endParaRPr lang="en-GB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1BFA2-EE69-374B-B248-C5EB3C1C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46" y="947113"/>
            <a:ext cx="5957637" cy="6298015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Clr>
                <a:prstClr val="black">
                  <a:lumMod val="85000"/>
                  <a:lumOff val="15000"/>
                </a:prstClr>
              </a:buClr>
              <a:buNone/>
            </a:pPr>
            <a:r>
              <a:rPr lang="en-US" sz="3200" b="1" dirty="0">
                <a:latin typeface="Arial"/>
                <a:cs typeface="Arial"/>
              </a:rPr>
              <a:t>Hardware Components</a:t>
            </a:r>
          </a:p>
          <a:p>
            <a:pPr marL="342900" indent="-342900">
              <a:buClr>
                <a:srgbClr val="262626"/>
              </a:buClr>
              <a:buFont typeface="Wingdings" pitchFamily="18" charset="0"/>
              <a:buChar char="Ø"/>
            </a:pPr>
            <a:r>
              <a:rPr lang="en-US" sz="2600" b="1" dirty="0">
                <a:latin typeface="Arial"/>
                <a:cs typeface="Arial"/>
              </a:rPr>
              <a:t>Raspberry Pi 4</a:t>
            </a:r>
            <a:r>
              <a:rPr lang="en-US" sz="2600" dirty="0">
                <a:latin typeface="Arial"/>
                <a:cs typeface="Arial"/>
              </a:rPr>
              <a:t> </a:t>
            </a:r>
          </a:p>
          <a:p>
            <a:pPr marL="274320" lvl="1" indent="0">
              <a:buClr>
                <a:srgbClr val="262626"/>
              </a:buClr>
              <a:buNone/>
            </a:pPr>
            <a:r>
              <a:rPr lang="en-US" sz="2600" dirty="0">
                <a:latin typeface="Arial"/>
                <a:cs typeface="Arial"/>
              </a:rPr>
              <a:t>Main onboard processor </a:t>
            </a:r>
          </a:p>
          <a:p>
            <a:pPr marL="274320" lvl="1" indent="0">
              <a:buClr>
                <a:srgbClr val="262626"/>
              </a:buClr>
              <a:buNone/>
            </a:pPr>
            <a:r>
              <a:rPr lang="en-US" sz="2600" dirty="0">
                <a:latin typeface="Arial"/>
                <a:cs typeface="Arial"/>
              </a:rPr>
              <a:t>Handles SLAM, navigation, and decision-making </a:t>
            </a:r>
          </a:p>
          <a:p>
            <a:pPr marL="342900" indent="-342900">
              <a:buClr>
                <a:srgbClr val="262626"/>
              </a:buClr>
              <a:buFont typeface="Wingdings" pitchFamily="18" charset="0"/>
              <a:buChar char="Ø"/>
            </a:pPr>
            <a:r>
              <a:rPr lang="en-US" sz="2600" b="1" dirty="0">
                <a:latin typeface="Arial"/>
                <a:cs typeface="Arial"/>
              </a:rPr>
              <a:t>Camera (Webcam )</a:t>
            </a:r>
            <a:r>
              <a:rPr lang="en-US" sz="2600" dirty="0">
                <a:latin typeface="Arial"/>
                <a:cs typeface="Arial"/>
              </a:rPr>
              <a:t> </a:t>
            </a:r>
          </a:p>
          <a:p>
            <a:pPr marL="274320" lvl="1" indent="0">
              <a:buClr>
                <a:srgbClr val="262626"/>
              </a:buClr>
              <a:buNone/>
            </a:pPr>
            <a:r>
              <a:rPr lang="en-US" sz="2600" dirty="0">
                <a:latin typeface="Arial"/>
                <a:cs typeface="Arial"/>
              </a:rPr>
              <a:t>Captures real-time video feed        </a:t>
            </a:r>
            <a:endParaRPr lang="en-US" sz="2600" dirty="0"/>
          </a:p>
          <a:p>
            <a:pPr marL="274320" lvl="1" indent="0">
              <a:buClr>
                <a:srgbClr val="262626"/>
              </a:buClr>
              <a:buNone/>
            </a:pPr>
            <a:r>
              <a:rPr lang="en-US" sz="2600" dirty="0">
                <a:latin typeface="Arial"/>
                <a:cs typeface="Arial"/>
              </a:rPr>
              <a:t>Used for visual odometry and human detection </a:t>
            </a:r>
          </a:p>
          <a:p>
            <a:pPr marL="342900" indent="-342900">
              <a:buClr>
                <a:srgbClr val="262626"/>
              </a:buClr>
              <a:buFont typeface="Wingdings" pitchFamily="18" charset="0"/>
              <a:buChar char="Ø"/>
            </a:pPr>
            <a:r>
              <a:rPr lang="en-US" sz="2600" b="1" dirty="0">
                <a:latin typeface="Arial"/>
                <a:cs typeface="Arial"/>
              </a:rPr>
              <a:t>Inertial Measurement Unit (IMU)</a:t>
            </a:r>
            <a:r>
              <a:rPr lang="en-US" sz="2600" dirty="0">
                <a:latin typeface="Arial"/>
                <a:cs typeface="Arial"/>
              </a:rPr>
              <a:t> </a:t>
            </a:r>
          </a:p>
          <a:p>
            <a:pPr marL="274320" lvl="1" indent="0">
              <a:buClr>
                <a:srgbClr val="262626"/>
              </a:buClr>
              <a:buNone/>
            </a:pPr>
            <a:r>
              <a:rPr lang="en-US" sz="2600" dirty="0">
                <a:latin typeface="Arial"/>
                <a:cs typeface="Arial"/>
              </a:rPr>
              <a:t>Provides acceleration and angular velocity data </a:t>
            </a:r>
          </a:p>
          <a:p>
            <a:pPr marL="274320" lvl="1" indent="0">
              <a:buClr>
                <a:srgbClr val="262626"/>
              </a:buClr>
              <a:buNone/>
            </a:pPr>
            <a:r>
              <a:rPr lang="en-US" sz="2600" dirty="0">
                <a:latin typeface="Arial"/>
                <a:cs typeface="Arial"/>
              </a:rPr>
              <a:t>Assists in pose estimation and stabilization </a:t>
            </a:r>
          </a:p>
          <a:p>
            <a:pPr marL="342900" indent="-342900">
              <a:buClr>
                <a:srgbClr val="262626"/>
              </a:buClr>
              <a:buFont typeface="Wingdings" pitchFamily="18" charset="0"/>
              <a:buChar char="Ø"/>
            </a:pPr>
            <a:r>
              <a:rPr lang="en-US" sz="2600" b="1" dirty="0">
                <a:latin typeface="Arial"/>
                <a:cs typeface="Arial"/>
              </a:rPr>
              <a:t>Flight Controller (Pixhawk)</a:t>
            </a:r>
            <a:r>
              <a:rPr lang="en-US" sz="2600" dirty="0">
                <a:latin typeface="Arial"/>
                <a:cs typeface="Arial"/>
              </a:rPr>
              <a:t> </a:t>
            </a:r>
          </a:p>
          <a:p>
            <a:pPr marL="274320" lvl="1" indent="0">
              <a:buClr>
                <a:srgbClr val="262626"/>
              </a:buClr>
              <a:buNone/>
            </a:pPr>
            <a:r>
              <a:rPr lang="en-US" sz="2600" dirty="0">
                <a:latin typeface="Arial"/>
                <a:cs typeface="Arial"/>
              </a:rPr>
              <a:t>Controls motors and ensures flight stability </a:t>
            </a:r>
          </a:p>
          <a:p>
            <a:pPr marL="274320" lvl="1" indent="0">
              <a:buClr>
                <a:srgbClr val="262626"/>
              </a:buClr>
              <a:buNone/>
            </a:pPr>
            <a:r>
              <a:rPr lang="en-US" sz="2600" dirty="0">
                <a:latin typeface="Arial"/>
                <a:cs typeface="Arial"/>
              </a:rPr>
              <a:t>Interfaces with Raspberry Pi for high-level commands </a:t>
            </a:r>
          </a:p>
          <a:p>
            <a:pPr marL="342900" indent="-342900">
              <a:buClr>
                <a:srgbClr val="262626"/>
              </a:buClr>
              <a:buFont typeface="Wingdings" pitchFamily="18" charset="0"/>
              <a:buChar char="Ø"/>
            </a:pPr>
            <a:r>
              <a:rPr lang="en-US" sz="2600" b="1" dirty="0">
                <a:latin typeface="Arial"/>
                <a:cs typeface="Arial"/>
              </a:rPr>
              <a:t>Motors &amp; Propellers</a:t>
            </a:r>
            <a:r>
              <a:rPr lang="en-US" sz="2600" dirty="0">
                <a:latin typeface="Arial"/>
                <a:cs typeface="Arial"/>
              </a:rPr>
              <a:t> </a:t>
            </a:r>
          </a:p>
          <a:p>
            <a:pPr marL="274320" lvl="1" indent="0">
              <a:buClr>
                <a:srgbClr val="262626"/>
              </a:buClr>
              <a:buNone/>
            </a:pPr>
            <a:r>
              <a:rPr lang="en-US" sz="2600" dirty="0">
                <a:latin typeface="Arial"/>
                <a:cs typeface="Arial"/>
              </a:rPr>
              <a:t>Enable lift and movement of the drone </a:t>
            </a:r>
          </a:p>
          <a:p>
            <a:pPr marL="342900" indent="-342900">
              <a:buClr>
                <a:srgbClr val="262626"/>
              </a:buClr>
              <a:buFont typeface="Wingdings" pitchFamily="18" charset="0"/>
              <a:buChar char="Ø"/>
            </a:pPr>
            <a:r>
              <a:rPr lang="en-US" sz="2600" b="1" dirty="0">
                <a:latin typeface="Arial"/>
                <a:cs typeface="Arial"/>
              </a:rPr>
              <a:t>Battery (Li-Po)</a:t>
            </a:r>
            <a:r>
              <a:rPr lang="en-US" sz="2600" dirty="0">
                <a:latin typeface="Arial"/>
                <a:cs typeface="Arial"/>
              </a:rPr>
              <a:t> </a:t>
            </a:r>
          </a:p>
          <a:p>
            <a:pPr marL="274320" lvl="1" indent="0">
              <a:buClr>
                <a:srgbClr val="262626"/>
              </a:buClr>
              <a:buNone/>
            </a:pPr>
            <a:r>
              <a:rPr lang="en-US" sz="2600" dirty="0">
                <a:latin typeface="Arial"/>
                <a:cs typeface="Arial"/>
              </a:rPr>
              <a:t>Provides power to all onboard components </a:t>
            </a:r>
          </a:p>
          <a:p>
            <a:pPr marL="342900" indent="-342900">
              <a:buClr>
                <a:srgbClr val="262626"/>
              </a:buClr>
              <a:buFont typeface="Wingdings" pitchFamily="18" charset="0"/>
              <a:buChar char="Ø"/>
            </a:pPr>
            <a:r>
              <a:rPr lang="en-US" sz="2600" b="1" dirty="0">
                <a:latin typeface="Arial"/>
                <a:cs typeface="Arial"/>
              </a:rPr>
              <a:t>Communication Module ( Telemetry)</a:t>
            </a:r>
            <a:r>
              <a:rPr lang="en-US" sz="2600" dirty="0">
                <a:latin typeface="Arial"/>
                <a:cs typeface="Arial"/>
              </a:rPr>
              <a:t> </a:t>
            </a:r>
          </a:p>
          <a:p>
            <a:pPr marL="274320" lvl="1" indent="0">
              <a:buClr>
                <a:srgbClr val="262626"/>
              </a:buClr>
              <a:buNone/>
            </a:pPr>
            <a:r>
              <a:rPr lang="en-US" sz="2600" dirty="0">
                <a:latin typeface="Arial"/>
                <a:cs typeface="Arial"/>
              </a:rPr>
              <a:t>Sends detected target coordinates to ground station </a:t>
            </a:r>
          </a:p>
          <a:p>
            <a:pPr marL="274320" lvl="1" indent="0">
              <a:buClr>
                <a:srgbClr val="262626"/>
              </a:buClr>
              <a:buNone/>
            </a:pPr>
            <a:r>
              <a:rPr lang="en-US" sz="2600" dirty="0">
                <a:latin typeface="Arial"/>
                <a:cs typeface="Arial"/>
              </a:rPr>
              <a:t> </a:t>
            </a:r>
          </a:p>
          <a:p>
            <a:pPr marL="274320" lvl="1" indent="0">
              <a:buClr>
                <a:srgbClr val="262626"/>
              </a:buClr>
              <a:buNone/>
            </a:pPr>
            <a:br>
              <a:rPr lang="en-US" dirty="0"/>
            </a:br>
            <a:endParaRPr lang="en-US" dirty="0"/>
          </a:p>
          <a:p>
            <a:pPr lvl="1">
              <a:buClr>
                <a:srgbClr val="262626"/>
              </a:buClr>
              <a:buFont typeface="Wingdings" pitchFamily="18" charset="0"/>
              <a:buChar char="Ø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5</a:t>
            </a:fld>
            <a:endParaRPr lang="en-BD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DB84238-93DB-FD84-B8CC-363AEEA63DB7}"/>
              </a:ext>
            </a:extLst>
          </p:cNvPr>
          <p:cNvSpPr txBox="1">
            <a:spLocks/>
          </p:cNvSpPr>
          <p:nvPr/>
        </p:nvSpPr>
        <p:spPr>
          <a:xfrm>
            <a:off x="6713622" y="962239"/>
            <a:ext cx="4965032" cy="49444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latin typeface="Arial"/>
                <a:cs typeface="Arial"/>
              </a:rPr>
              <a:t>Software Components</a:t>
            </a:r>
          </a:p>
          <a:p>
            <a:pPr marL="171450" indent="-171450">
              <a:buClr>
                <a:srgbClr val="262626"/>
              </a:buClr>
              <a:buFont typeface="Wingdings" pitchFamily="18" charset="0"/>
              <a:buChar char="Ø"/>
            </a:pPr>
            <a:r>
              <a:rPr lang="en-US" sz="1600" b="1">
                <a:latin typeface="Arial"/>
                <a:cs typeface="Arial"/>
              </a:rPr>
              <a:t>Robot Operating System (ROS)</a:t>
            </a:r>
            <a:r>
              <a:rPr lang="en-US" sz="1600" dirty="0">
                <a:latin typeface="Arial"/>
                <a:cs typeface="Arial"/>
              </a:rPr>
              <a:t> </a:t>
            </a:r>
          </a:p>
          <a:p>
            <a:pPr marL="274320" lvl="1" indent="0">
              <a:buClr>
                <a:srgbClr val="262626"/>
              </a:buClr>
              <a:buNone/>
            </a:pPr>
            <a:r>
              <a:rPr lang="en-US" sz="1600">
                <a:latin typeface="Arial"/>
                <a:cs typeface="Arial"/>
              </a:rPr>
              <a:t>Framework for communication between modules </a:t>
            </a:r>
            <a:endParaRPr lang="en-US" sz="1600" dirty="0">
              <a:latin typeface="Arial"/>
              <a:cs typeface="Arial"/>
            </a:endParaRPr>
          </a:p>
          <a:p>
            <a:pPr marL="171450" indent="-171450">
              <a:buClr>
                <a:srgbClr val="262626"/>
              </a:buClr>
              <a:buFont typeface="Wingdings" pitchFamily="18" charset="0"/>
              <a:buChar char="Ø"/>
            </a:pPr>
            <a:r>
              <a:rPr lang="en-US" sz="1600" b="1">
                <a:latin typeface="Arial"/>
                <a:cs typeface="Arial"/>
              </a:rPr>
              <a:t>SLAM Algorithm</a:t>
            </a:r>
            <a:r>
              <a:rPr lang="en-US" sz="1600" dirty="0">
                <a:latin typeface="Arial"/>
                <a:cs typeface="Arial"/>
              </a:rPr>
              <a:t> </a:t>
            </a:r>
          </a:p>
          <a:p>
            <a:pPr marL="274320" lvl="1" indent="0">
              <a:buClr>
                <a:srgbClr val="262626"/>
              </a:buClr>
              <a:buNone/>
            </a:pPr>
            <a:r>
              <a:rPr lang="en-US" sz="1600">
                <a:latin typeface="Arial"/>
                <a:cs typeface="Arial"/>
              </a:rPr>
              <a:t>Real-time mapping and localization (fake GPS generation) </a:t>
            </a:r>
            <a:endParaRPr lang="en-US" sz="1600" dirty="0">
              <a:latin typeface="Arial"/>
              <a:cs typeface="Arial"/>
            </a:endParaRPr>
          </a:p>
          <a:p>
            <a:pPr marL="171450" indent="-171450">
              <a:buClr>
                <a:srgbClr val="262626"/>
              </a:buClr>
              <a:buFont typeface="Wingdings" pitchFamily="18" charset="0"/>
              <a:buChar char="Ø"/>
            </a:pPr>
            <a:r>
              <a:rPr lang="en-US" sz="1600" b="1">
                <a:latin typeface="Arial"/>
                <a:cs typeface="Arial"/>
              </a:rPr>
              <a:t>Human Detection Model </a:t>
            </a:r>
            <a:r>
              <a:rPr lang="en-US" sz="1600" dirty="0">
                <a:latin typeface="Arial"/>
                <a:cs typeface="Arial"/>
              </a:rPr>
              <a:t> </a:t>
            </a:r>
          </a:p>
          <a:p>
            <a:pPr marL="274320" lvl="1" indent="0">
              <a:buClr>
                <a:srgbClr val="262626"/>
              </a:buClr>
              <a:buNone/>
            </a:pPr>
            <a:r>
              <a:rPr lang="en-US" sz="1600">
                <a:latin typeface="Arial"/>
                <a:cs typeface="Arial"/>
              </a:rPr>
              <a:t>Detects victims in low-visibility environments </a:t>
            </a:r>
            <a:endParaRPr lang="en-US" sz="1600" dirty="0">
              <a:latin typeface="Arial"/>
              <a:cs typeface="Arial"/>
            </a:endParaRPr>
          </a:p>
          <a:p>
            <a:pPr marL="171450" indent="-171450">
              <a:buClr>
                <a:srgbClr val="262626"/>
              </a:buClr>
              <a:buFont typeface="Wingdings" pitchFamily="18" charset="0"/>
              <a:buChar char="Ø"/>
            </a:pPr>
            <a:r>
              <a:rPr lang="en-US" sz="1600" b="1">
                <a:latin typeface="Arial"/>
                <a:cs typeface="Arial"/>
              </a:rPr>
              <a:t>Navigation &amp; Mission Planner</a:t>
            </a:r>
            <a:endParaRPr lang="en-US" sz="1600" dirty="0">
              <a:latin typeface="Arial"/>
              <a:cs typeface="Arial"/>
            </a:endParaRPr>
          </a:p>
          <a:p>
            <a:pPr marL="274320" lvl="1" indent="0">
              <a:buClr>
                <a:srgbClr val="262626"/>
              </a:buClr>
              <a:buNone/>
            </a:pPr>
            <a:r>
              <a:rPr lang="en-US" sz="1600">
                <a:latin typeface="Arial"/>
                <a:cs typeface="Arial"/>
              </a:rPr>
              <a:t>Autonomous exploration </a:t>
            </a:r>
            <a:endParaRPr lang="en-US" sz="1600" dirty="0">
              <a:latin typeface="Arial"/>
              <a:cs typeface="Arial"/>
            </a:endParaRPr>
          </a:p>
          <a:p>
            <a:pPr marL="0" indent="0">
              <a:buClr>
                <a:srgbClr val="262626"/>
              </a:buClr>
              <a:buNone/>
            </a:pPr>
            <a:endParaRPr lang="en-US" sz="1600" dirty="0">
              <a:latin typeface="Arial"/>
              <a:cs typeface="Arial"/>
            </a:endParaRPr>
          </a:p>
          <a:p>
            <a:pPr marL="0" indent="0">
              <a:buClr>
                <a:srgbClr val="262626"/>
              </a:buClr>
              <a:buNone/>
            </a:pPr>
            <a:endParaRPr lang="en-US" sz="1200" b="1" dirty="0"/>
          </a:p>
          <a:p>
            <a:pPr lvl="1">
              <a:buClr>
                <a:srgbClr val="262626"/>
              </a:buClr>
            </a:pPr>
            <a:br>
              <a:rPr lang="en-US" dirty="0"/>
            </a:br>
            <a:endParaRPr lang="en-US" dirty="0"/>
          </a:p>
          <a:p>
            <a:pPr lvl="1">
              <a:buClr>
                <a:srgbClr val="262626"/>
              </a:buClr>
            </a:pPr>
            <a:endParaRPr lang="en-US" dirty="0"/>
          </a:p>
        </p:txBody>
      </p:sp>
      <p:pic>
        <p:nvPicPr>
          <p:cNvPr id="4" name="Picture 3" descr="A drone flying in the air&#10;&#10;AI-generated content may be incorrect.">
            <a:extLst>
              <a:ext uri="{FF2B5EF4-FFF2-40B4-BE49-F238E27FC236}">
                <a16:creationId xmlns:a16="http://schemas.microsoft.com/office/drawing/2014/main" id="{682D3DF9-E4D7-350D-BA83-E3D6005A5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628" y="4291311"/>
            <a:ext cx="3741052" cy="2116310"/>
          </a:xfrm>
          <a:prstGeom prst="rect">
            <a:avLst/>
          </a:prstGeom>
        </p:spPr>
      </p:pic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18BAB501-CDAB-2372-E9A6-4838D589D0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 dirty="0"/>
              <a:t>EEE 404 (2026) – Final Project Group 4</a:t>
            </a:r>
            <a:endParaRPr lang="en-BD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FC8238E4-3886-25DE-5E6E-80C6CDF2D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en-US" dirty="0"/>
              <a:t>HIVE-R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175869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327" y="138871"/>
            <a:ext cx="10058400" cy="729006"/>
          </a:xfrm>
        </p:spPr>
        <p:txBody>
          <a:bodyPr>
            <a:normAutofit/>
          </a:bodyPr>
          <a:lstStyle/>
          <a:p>
            <a:r>
              <a:rPr lang="en-US">
                <a:latin typeface="Arial"/>
                <a:cs typeface="Arial"/>
              </a:rPr>
              <a:t>SLAM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1BFA2-EE69-374B-B248-C5EB3C1C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248" y="3597155"/>
            <a:ext cx="10188742" cy="2708595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Clr>
                <a:srgbClr val="262626"/>
              </a:buClr>
              <a:buNone/>
            </a:pPr>
            <a:r>
              <a:rPr lang="en-US" b="1">
                <a:latin typeface="Arial"/>
                <a:cs typeface="Arial"/>
              </a:rPr>
              <a:t>Core SLAM Loop:</a:t>
            </a:r>
            <a:r>
              <a:rPr lang="en-US">
                <a:latin typeface="Arial"/>
                <a:cs typeface="Arial"/>
              </a:rPr>
              <a:t> This is the heart of the algorithm, which repeats continuously to keep the localization and map synchronized.</a:t>
            </a:r>
            <a:endParaRPr lang="en-US"/>
          </a:p>
          <a:p>
            <a:pPr marL="0" indent="0">
              <a:buClr>
                <a:srgbClr val="262626"/>
              </a:buClr>
              <a:buNone/>
            </a:pPr>
            <a:r>
              <a:rPr lang="en-US" b="1">
                <a:latin typeface="Arial"/>
                <a:cs typeface="Arial"/>
              </a:rPr>
              <a:t>1. Feature Extraction:</a:t>
            </a:r>
            <a:r>
              <a:rPr lang="en-US">
                <a:latin typeface="Arial"/>
                <a:cs typeface="Arial"/>
              </a:rPr>
              <a:t> The algorithm analyzes the sensor data to find distinct, recognizable points, such as a corner of a building or a unique shape on the floor. These are the "landmarks" the robot uses for reference.</a:t>
            </a:r>
            <a:endParaRPr lang="en-US"/>
          </a:p>
          <a:p>
            <a:pPr marL="0" indent="0">
              <a:buClr>
                <a:srgbClr val="262626"/>
              </a:buClr>
              <a:buNone/>
            </a:pPr>
            <a:r>
              <a:rPr lang="en-US" b="1">
                <a:latin typeface="Arial"/>
                <a:cs typeface="Arial"/>
              </a:rPr>
              <a:t>2. Data Association:</a:t>
            </a:r>
            <a:r>
              <a:rPr lang="en-US">
                <a:latin typeface="Arial"/>
                <a:cs typeface="Arial"/>
              </a:rPr>
              <a:t> The robot compares the features it just saw with the landmarks it already has in its existing map. This is a crucial step to answer the question: "Is this a feature I've seen before, or is it new?"</a:t>
            </a:r>
            <a:endParaRPr lang="en-US"/>
          </a:p>
          <a:p>
            <a:pPr marL="0" indent="0">
              <a:buClr>
                <a:srgbClr val="262626"/>
              </a:buClr>
              <a:buNone/>
            </a:pPr>
            <a:r>
              <a:rPr lang="en-US" b="1">
                <a:latin typeface="Arial"/>
                <a:cs typeface="Arial"/>
              </a:rPr>
              <a:t>3. Pose Estimation (Localization):</a:t>
            </a:r>
            <a:r>
              <a:rPr lang="en-US">
                <a:latin typeface="Arial"/>
                <a:cs typeface="Arial"/>
              </a:rPr>
              <a:t> Using the matched landmarks, the robot calculates its current position and orientation in the world. It uses the known locations of the landmarks to triangulate its own position.</a:t>
            </a:r>
            <a:endParaRPr lang="en-US"/>
          </a:p>
          <a:p>
            <a:pPr marL="0" indent="0">
              <a:buClr>
                <a:srgbClr val="262626"/>
              </a:buClr>
              <a:buNone/>
            </a:pPr>
            <a:r>
              <a:rPr lang="en-US" b="1">
                <a:latin typeface="Arial"/>
                <a:cs typeface="Arial"/>
              </a:rPr>
              <a:t>4. Map Update:</a:t>
            </a:r>
            <a:r>
              <a:rPr lang="en-US">
                <a:latin typeface="Arial"/>
                <a:cs typeface="Arial"/>
              </a:rPr>
              <a:t> Based on its calculated pose, the robot updates the map. It refines the positions of existing landmarks and adds any new features it has discovered for future reference.</a:t>
            </a:r>
            <a:endParaRPr lang="en-US"/>
          </a:p>
          <a:p>
            <a:pPr marL="0" indent="0">
              <a:buClr>
                <a:srgbClr val="262626"/>
              </a:buClr>
              <a:buNone/>
            </a:pPr>
            <a:endParaRPr lang="en-US" dirty="0"/>
          </a:p>
          <a:p>
            <a:pPr>
              <a:buClr>
                <a:srgbClr val="262626"/>
              </a:buClr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6</a:t>
            </a:fld>
            <a:endParaRPr lang="en-BD"/>
          </a:p>
        </p:txBody>
      </p:sp>
      <p:pic>
        <p:nvPicPr>
          <p:cNvPr id="5" name="Picture 4" descr="A diagram of a visual odometer&#10;&#10;AI-generated content may be incorrect.">
            <a:extLst>
              <a:ext uri="{FF2B5EF4-FFF2-40B4-BE49-F238E27FC236}">
                <a16:creationId xmlns:a16="http://schemas.microsoft.com/office/drawing/2014/main" id="{3E4F1B4D-29B5-9EF9-3145-1CFA80894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43" y="986589"/>
            <a:ext cx="8337884" cy="2438400"/>
          </a:xfrm>
          <a:prstGeom prst="rect">
            <a:avLst/>
          </a:prstGeom>
        </p:spPr>
      </p:pic>
      <p:sp>
        <p:nvSpPr>
          <p:cNvPr id="4" name="Date Placeholder 5">
            <a:extLst>
              <a:ext uri="{FF2B5EF4-FFF2-40B4-BE49-F238E27FC236}">
                <a16:creationId xmlns:a16="http://schemas.microsoft.com/office/drawing/2014/main" id="{FEE16D55-EC4E-64F7-12EF-69369A54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 dirty="0"/>
              <a:t>EEE 404 (2026) – Final Project Group 4</a:t>
            </a:r>
            <a:endParaRPr lang="en-BD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F5A0DD1A-D65A-4733-77A8-A489934CA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en-US" dirty="0"/>
              <a:t>HIVE-R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505768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162" y="175111"/>
            <a:ext cx="10058400" cy="729006"/>
          </a:xfrm>
        </p:spPr>
        <p:txBody>
          <a:bodyPr>
            <a:normAutofit/>
          </a:bodyPr>
          <a:lstStyle/>
          <a:p>
            <a:r>
              <a:rPr lang="en-US">
                <a:latin typeface="Arial"/>
                <a:cs typeface="Arial"/>
              </a:rPr>
              <a:t>Human Detection Model: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1BFA2-EE69-374B-B248-C5EB3C1C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161" y="1112441"/>
            <a:ext cx="10058400" cy="403206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endParaRPr lang="en-US" b="1" dirty="0">
              <a:latin typeface="Arial"/>
              <a:cs typeface="Arial"/>
            </a:endParaRPr>
          </a:p>
          <a:p>
            <a:pPr marL="0" indent="0">
              <a:buClr>
                <a:srgbClr val="262626"/>
              </a:buClr>
              <a:buNone/>
            </a:pPr>
            <a:r>
              <a:rPr lang="en-US" sz="2900" b="1">
                <a:latin typeface="Arial"/>
                <a:cs typeface="Arial"/>
              </a:rPr>
              <a:t>Model:</a:t>
            </a:r>
            <a:endParaRPr lang="en-US" sz="2900"/>
          </a:p>
          <a:p>
            <a:pPr marL="0" indent="0">
              <a:buNone/>
            </a:pPr>
            <a:r>
              <a:rPr lang="en-US" b="1">
                <a:latin typeface="Arial"/>
                <a:cs typeface="Arial"/>
              </a:rPr>
              <a:t> YOLOv8 Nano</a:t>
            </a:r>
            <a:r>
              <a:rPr lang="en-US" dirty="0">
                <a:latin typeface="Arial"/>
                <a:cs typeface="Arial"/>
              </a:rPr>
              <a:t> </a:t>
            </a:r>
            <a:endParaRPr lang="en-US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 (Optimized for real-time inference on Raspberry Pi 4 )</a:t>
            </a:r>
          </a:p>
          <a:p>
            <a:pPr marL="0" indent="0">
              <a:buClr>
                <a:srgbClr val="262626"/>
              </a:buClr>
              <a:buNone/>
            </a:pPr>
            <a:r>
              <a:rPr lang="en-US" sz="2900" b="1">
                <a:latin typeface="Arial"/>
                <a:cs typeface="Arial"/>
              </a:rPr>
              <a:t>Key Features:</a:t>
            </a:r>
            <a:endParaRPr lang="en-US" sz="2900"/>
          </a:p>
          <a:p>
            <a:pPr>
              <a:buClr>
                <a:srgbClr val="262626"/>
              </a:buClr>
              <a:buFont typeface="Wingdings" pitchFamily="18" charset="0"/>
              <a:buChar char="Ø"/>
            </a:pPr>
            <a:r>
              <a:rPr lang="en-US">
                <a:latin typeface="Arial"/>
                <a:cs typeface="Arial"/>
              </a:rPr>
              <a:t> Lightweight deep learning model for edge deployment</a:t>
            </a:r>
            <a:r>
              <a:rPr lang="en-US" dirty="0">
                <a:latin typeface="Arial"/>
                <a:cs typeface="Arial"/>
              </a:rPr>
              <a:t> </a:t>
            </a:r>
          </a:p>
          <a:p>
            <a:pPr>
              <a:buClr>
                <a:srgbClr val="262626"/>
              </a:buClr>
              <a:buFont typeface="Wingdings" pitchFamily="18" charset="0"/>
              <a:buChar char="Ø"/>
            </a:pPr>
            <a:r>
              <a:rPr lang="en-US">
                <a:latin typeface="Arial"/>
                <a:cs typeface="Arial"/>
              </a:rPr>
              <a:t>Performs real-time human detection onboard the drone </a:t>
            </a:r>
            <a:endParaRPr lang="en-US" dirty="0">
              <a:latin typeface="Arial"/>
              <a:cs typeface="Arial"/>
            </a:endParaRPr>
          </a:p>
          <a:p>
            <a:pPr>
              <a:buClr>
                <a:srgbClr val="262626"/>
              </a:buClr>
              <a:buFont typeface="Wingdings" pitchFamily="18" charset="0"/>
              <a:buChar char="Ø"/>
            </a:pPr>
            <a:r>
              <a:rPr lang="en-US">
                <a:latin typeface="Arial"/>
                <a:cs typeface="Arial"/>
              </a:rPr>
              <a:t>Low latency and efficient computation </a:t>
            </a:r>
            <a:endParaRPr lang="en-US" dirty="0">
              <a:latin typeface="Arial"/>
              <a:cs typeface="Arial"/>
            </a:endParaRPr>
          </a:p>
          <a:p>
            <a:pPr marL="0" indent="0">
              <a:buClr>
                <a:srgbClr val="262626"/>
              </a:buClr>
              <a:buNone/>
            </a:pPr>
            <a:r>
              <a:rPr lang="en-US" sz="2900" b="1">
                <a:latin typeface="Arial"/>
                <a:cs typeface="Arial"/>
              </a:rPr>
              <a:t>Fuzzy Augmentation:</a:t>
            </a:r>
            <a:endParaRPr lang="en-US" sz="2900"/>
          </a:p>
          <a:p>
            <a:pPr marL="342900" indent="-342900">
              <a:buClr>
                <a:srgbClr val="262626"/>
              </a:buClr>
              <a:buFont typeface="Wingdings" pitchFamily="18" charset="0"/>
              <a:buChar char="Ø"/>
            </a:pPr>
            <a:r>
              <a:rPr lang="en-US">
                <a:latin typeface="Arial"/>
                <a:cs typeface="Arial"/>
              </a:rPr>
              <a:t>Training data enhanced with blur, noise, and low-visibility effects</a:t>
            </a:r>
            <a:r>
              <a:rPr lang="en-US" dirty="0">
                <a:latin typeface="Arial"/>
                <a:cs typeface="Arial"/>
              </a:rPr>
              <a:t> </a:t>
            </a:r>
            <a:endParaRPr lang="en-US"/>
          </a:p>
          <a:p>
            <a:pPr marL="342900" indent="-342900">
              <a:buClr>
                <a:srgbClr val="262626"/>
              </a:buClr>
              <a:buFont typeface="Wingdings" pitchFamily="18" charset="0"/>
              <a:buChar char="Ø"/>
            </a:pPr>
            <a:r>
              <a:rPr lang="en-US">
                <a:latin typeface="Arial"/>
                <a:cs typeface="Arial"/>
              </a:rPr>
              <a:t>Improves detection performance in flood, foggy, and harsh environments</a:t>
            </a:r>
            <a:r>
              <a:rPr lang="en-US" dirty="0">
                <a:latin typeface="Arial"/>
                <a:cs typeface="Arial"/>
              </a:rPr>
              <a:t> </a:t>
            </a:r>
            <a:endParaRPr lang="en-US"/>
          </a:p>
          <a:p>
            <a:pPr marL="0" indent="0">
              <a:buClr>
                <a:srgbClr val="262626"/>
              </a:buClr>
              <a:buNone/>
            </a:pPr>
            <a:r>
              <a:rPr lang="en-US" sz="2900" b="1">
                <a:latin typeface="Arial"/>
                <a:cs typeface="Arial"/>
              </a:rPr>
              <a:t>Dataset:</a:t>
            </a:r>
            <a:endParaRPr lang="en-US" sz="2900"/>
          </a:p>
          <a:p>
            <a:pPr marL="0" indent="0">
              <a:buClr>
                <a:srgbClr val="262626"/>
              </a:buClr>
              <a:buNone/>
            </a:pPr>
            <a:r>
              <a:rPr lang="en-US">
                <a:latin typeface="Arial"/>
                <a:cs typeface="Arial"/>
              </a:rPr>
              <a:t>Human detection dataset from </a:t>
            </a:r>
            <a:r>
              <a:rPr lang="en-US" b="1">
                <a:latin typeface="Arial"/>
                <a:cs typeface="Arial"/>
              </a:rPr>
              <a:t>Carnegie Mellon University</a:t>
            </a:r>
            <a:r>
              <a:rPr lang="en-US" dirty="0">
                <a:latin typeface="Arial"/>
                <a:cs typeface="Arial"/>
              </a:rPr>
              <a:t> </a:t>
            </a:r>
            <a:endParaRPr lang="en-US" dirty="0"/>
          </a:p>
          <a:p>
            <a:pPr marL="0" indent="0">
              <a:buClr>
                <a:srgbClr val="262626"/>
              </a:buClr>
              <a:buNone/>
            </a:pPr>
            <a:endParaRPr lang="en-BD">
              <a:latin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7</a:t>
            </a:fld>
            <a:endParaRPr lang="en-BD"/>
          </a:p>
        </p:txBody>
      </p:sp>
      <p:pic>
        <p:nvPicPr>
          <p:cNvPr id="5" name="Picture 4" descr="A screenshot of a video&#10;&#10;AI-generated content may be incorrect.">
            <a:extLst>
              <a:ext uri="{FF2B5EF4-FFF2-40B4-BE49-F238E27FC236}">
                <a16:creationId xmlns:a16="http://schemas.microsoft.com/office/drawing/2014/main" id="{C9BFB33A-E39F-E3F4-7B0F-ADC40F246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252" y="543499"/>
            <a:ext cx="5138219" cy="5091629"/>
          </a:xfrm>
          <a:prstGeom prst="rect">
            <a:avLst/>
          </a:prstGeom>
        </p:spPr>
      </p:pic>
      <p:sp>
        <p:nvSpPr>
          <p:cNvPr id="4" name="Date Placeholder 5">
            <a:extLst>
              <a:ext uri="{FF2B5EF4-FFF2-40B4-BE49-F238E27FC236}">
                <a16:creationId xmlns:a16="http://schemas.microsoft.com/office/drawing/2014/main" id="{CA4CAC04-FE4F-301C-EA75-64C46FFD2B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 dirty="0"/>
              <a:t>EEE 404 (2026) – Final Project Group 4</a:t>
            </a:r>
            <a:endParaRPr lang="en-BD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781AE0D0-F3B7-E612-B376-554188325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en-US" dirty="0"/>
              <a:t>HIVE-R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1001687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2A0DA-19DF-5268-697E-2E1C864AF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84F8-8F77-8BBD-FA01-38EAE0347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258" y="129208"/>
            <a:ext cx="10058400" cy="729006"/>
          </a:xfrm>
        </p:spPr>
        <p:txBody>
          <a:bodyPr>
            <a:normAutofit/>
          </a:bodyPr>
          <a:lstStyle/>
          <a:p>
            <a:r>
              <a:rPr lang="en-US">
                <a:latin typeface="Arial"/>
                <a:cs typeface="Arial"/>
              </a:rPr>
              <a:t>Results: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E8F4F-E193-21E2-63B4-6E91C8288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426" y="956369"/>
            <a:ext cx="10058400" cy="40320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prstClr val="black">
                  <a:lumMod val="85000"/>
                  <a:lumOff val="15000"/>
                </a:prstClr>
              </a:buClr>
              <a:buNone/>
            </a:pPr>
            <a:r>
              <a:rPr lang="en-US" sz="2800" dirty="0">
                <a:latin typeface="Arial"/>
                <a:cs typeface="Arial"/>
              </a:rPr>
              <a:t>Human detection model </a:t>
            </a:r>
            <a:r>
              <a:rPr lang="en-US" sz="2800">
                <a:latin typeface="Arial"/>
                <a:cs typeface="Arial"/>
              </a:rPr>
              <a:t>result</a:t>
            </a:r>
            <a:r>
              <a:rPr lang="en-US" sz="2800" dirty="0">
                <a:latin typeface="Arial"/>
                <a:cs typeface="Arial"/>
              </a:rPr>
              <a:t>:</a:t>
            </a:r>
            <a:endParaRPr lang="en-US" sz="2800" dirty="0"/>
          </a:p>
          <a:p>
            <a:pPr marL="0" indent="0">
              <a:buNone/>
            </a:pPr>
            <a:endParaRPr lang="en-US"/>
          </a:p>
          <a:p>
            <a:pPr marL="0" indent="0">
              <a:buClr>
                <a:srgbClr val="262626"/>
              </a:buClr>
              <a:buNone/>
            </a:pPr>
            <a:endParaRPr lang="en-BD">
              <a:latin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1132F-CC23-AA15-43FB-A9209B59C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8</a:t>
            </a:fld>
            <a:endParaRPr lang="en-BD"/>
          </a:p>
        </p:txBody>
      </p:sp>
      <p:pic>
        <p:nvPicPr>
          <p:cNvPr id="5" name="Picture 4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3E9ACCEC-9CD2-9DDA-18D3-08B974880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348" y="1514818"/>
            <a:ext cx="4379206" cy="3194893"/>
          </a:xfrm>
          <a:prstGeom prst="rect">
            <a:avLst/>
          </a:prstGeom>
        </p:spPr>
      </p:pic>
      <p:pic>
        <p:nvPicPr>
          <p:cNvPr id="10" name="Picture 9" descr="A collage of a house and a tree&#10;&#10;AI-generated content may be incorrect.">
            <a:extLst>
              <a:ext uri="{FF2B5EF4-FFF2-40B4-BE49-F238E27FC236}">
                <a16:creationId xmlns:a16="http://schemas.microsoft.com/office/drawing/2014/main" id="{C5763249-17D0-66E7-47AC-14EA6C887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22" y="2020691"/>
            <a:ext cx="7280313" cy="19077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8056CF-5119-DCDD-D843-CE16ED2B8082}"/>
              </a:ext>
            </a:extLst>
          </p:cNvPr>
          <p:cNvSpPr txBox="1"/>
          <p:nvPr/>
        </p:nvSpPr>
        <p:spPr>
          <a:xfrm>
            <a:off x="627189" y="4039156"/>
            <a:ext cx="56144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 human detection accurac</a:t>
            </a:r>
            <a:r>
              <a:rPr lang="en-GB" dirty="0"/>
              <a:t>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8183DC-CC1C-BEE7-6943-92AE5385C605}"/>
              </a:ext>
            </a:extLst>
          </p:cNvPr>
          <p:cNvSpPr txBox="1"/>
          <p:nvPr/>
        </p:nvSpPr>
        <p:spPr>
          <a:xfrm>
            <a:off x="8522610" y="4801155"/>
            <a:ext cx="56144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 err="1"/>
              <a:t>Classsification</a:t>
            </a:r>
            <a:r>
              <a:rPr lang="en-GB" dirty="0"/>
              <a:t> Matrix</a:t>
            </a:r>
            <a:endParaRPr lang="en-US" dirty="0"/>
          </a:p>
        </p:txBody>
      </p:sp>
      <p:sp>
        <p:nvSpPr>
          <p:cNvPr id="4" name="Date Placeholder 5">
            <a:extLst>
              <a:ext uri="{FF2B5EF4-FFF2-40B4-BE49-F238E27FC236}">
                <a16:creationId xmlns:a16="http://schemas.microsoft.com/office/drawing/2014/main" id="{40BAF226-7D3D-DFA4-A101-F990894B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 dirty="0"/>
              <a:t>EEE 404 (2026) – Final Project Group 4</a:t>
            </a:r>
            <a:endParaRPr lang="en-BD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BBF5F480-D03D-C255-6294-0917E0C5E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en-US" dirty="0"/>
              <a:t>HIVE-R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410487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F570C-EB5C-1C90-512B-2610DA9D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BDD1D-2390-BBED-78DD-35B197506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258" y="129208"/>
            <a:ext cx="10058400" cy="729006"/>
          </a:xfrm>
        </p:spPr>
        <p:txBody>
          <a:bodyPr>
            <a:normAutofit/>
          </a:bodyPr>
          <a:lstStyle/>
          <a:p>
            <a:r>
              <a:rPr lang="en-US">
                <a:latin typeface="Arial"/>
                <a:cs typeface="Arial"/>
              </a:rPr>
              <a:t>Results: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EEDF5-799F-4047-E1EE-4B15406CD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426" y="956369"/>
            <a:ext cx="10058400" cy="40320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prstClr val="black">
                  <a:lumMod val="85000"/>
                  <a:lumOff val="15000"/>
                </a:prstClr>
              </a:buClr>
              <a:buNone/>
            </a:pPr>
            <a:endParaRPr lang="en-US" sz="2800"/>
          </a:p>
          <a:p>
            <a:pPr marL="0" indent="0">
              <a:buNone/>
            </a:pPr>
            <a:endParaRPr lang="en-US"/>
          </a:p>
          <a:p>
            <a:pPr marL="0" indent="0">
              <a:buClr>
                <a:srgbClr val="262626"/>
              </a:buClr>
              <a:buNone/>
            </a:pPr>
            <a:endParaRPr lang="en-BD">
              <a:latin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CBA19-3ECA-63C4-FBA2-D696D1FB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9</a:t>
            </a:fld>
            <a:endParaRPr lang="en-B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CFE7C4-B92C-21DC-54AB-E87EBF2791A8}"/>
              </a:ext>
            </a:extLst>
          </p:cNvPr>
          <p:cNvSpPr txBox="1"/>
          <p:nvPr/>
        </p:nvSpPr>
        <p:spPr>
          <a:xfrm>
            <a:off x="386557" y="5462893"/>
            <a:ext cx="56144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Message came </a:t>
            </a:r>
            <a:r>
              <a:rPr lang="en-GB"/>
              <a:t>to Ground station:</a:t>
            </a:r>
            <a:endParaRPr lang="en-US"/>
          </a:p>
        </p:txBody>
      </p:sp>
      <p:pic>
        <p:nvPicPr>
          <p:cNvPr id="11" name="Picture 10" descr="A screenshot of a video surveillance&#10;&#10;AI-generated content may be incorrect.">
            <a:extLst>
              <a:ext uri="{FF2B5EF4-FFF2-40B4-BE49-F238E27FC236}">
                <a16:creationId xmlns:a16="http://schemas.microsoft.com/office/drawing/2014/main" id="{4EC8CAEA-E5E9-DF75-616E-0759D6048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31" y="859977"/>
            <a:ext cx="4874293" cy="4130340"/>
          </a:xfrm>
          <a:prstGeom prst="rect">
            <a:avLst/>
          </a:prstGeom>
        </p:spPr>
      </p:pic>
      <p:pic>
        <p:nvPicPr>
          <p:cNvPr id="15" name="Picture 1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38024EB-1397-4B26-4F2E-10AB2595E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226" y="862618"/>
            <a:ext cx="4971547" cy="4211552"/>
          </a:xfrm>
          <a:prstGeom prst="rect">
            <a:avLst/>
          </a:prstGeom>
        </p:spPr>
      </p:pic>
      <p:pic>
        <p:nvPicPr>
          <p:cNvPr id="16" name="Picture 1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8BA0AB0-C7B7-B605-9153-D7F9C307B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833" y="5206918"/>
            <a:ext cx="2524125" cy="1076325"/>
          </a:xfrm>
          <a:prstGeom prst="rect">
            <a:avLst/>
          </a:prstGeom>
        </p:spPr>
      </p:pic>
      <p:sp>
        <p:nvSpPr>
          <p:cNvPr id="4" name="Date Placeholder 5">
            <a:extLst>
              <a:ext uri="{FF2B5EF4-FFF2-40B4-BE49-F238E27FC236}">
                <a16:creationId xmlns:a16="http://schemas.microsoft.com/office/drawing/2014/main" id="{D1B1C731-2D37-9C04-C16B-E49CB60B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 dirty="0"/>
              <a:t>EEE 404 (2026) – Final Project Group 4</a:t>
            </a:r>
            <a:endParaRPr lang="en-BD" dirty="0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73E85081-3545-6E48-87C2-D4449D22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en-US" dirty="0"/>
              <a:t>HIVE-R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237359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4ED8F-9315-6D69-C3F3-37CEC10F6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0EE1A-F56E-E7D4-1F05-AA6C6380F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01"/>
            <a:ext cx="10058400" cy="729006"/>
          </a:xfrm>
        </p:spPr>
        <p:txBody>
          <a:bodyPr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Demo: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EB32E-96CF-4C42-95C9-0174F47C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10</a:t>
            </a:fld>
            <a:endParaRPr lang="en-BD"/>
          </a:p>
        </p:txBody>
      </p:sp>
      <p:sp>
        <p:nvSpPr>
          <p:cNvPr id="4" name="Date Placeholder 5">
            <a:extLst>
              <a:ext uri="{FF2B5EF4-FFF2-40B4-BE49-F238E27FC236}">
                <a16:creationId xmlns:a16="http://schemas.microsoft.com/office/drawing/2014/main" id="{E2C9F748-6D51-AC17-BF98-0F3D7EEF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 dirty="0"/>
              <a:t>EEE 404 (2026) – Final Project Group 4</a:t>
            </a:r>
            <a:endParaRPr lang="en-BD" dirty="0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31E2EF86-FE0D-90E0-0F1A-0E4BC8D9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en-US" dirty="0"/>
              <a:t>HIVE-R</a:t>
            </a:r>
            <a:endParaRPr lang="en-BD" dirty="0"/>
          </a:p>
        </p:txBody>
      </p:sp>
      <p:pic>
        <p:nvPicPr>
          <p:cNvPr id="9" name="Demo Video">
            <a:hlinkClick r:id="" action="ppaction://media"/>
            <a:extLst>
              <a:ext uri="{FF2B5EF4-FFF2-40B4-BE49-F238E27FC236}">
                <a16:creationId xmlns:a16="http://schemas.microsoft.com/office/drawing/2014/main" id="{FCEC8536-063C-E272-3EAE-7C0DDBBA18B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2160" y="677974"/>
            <a:ext cx="10266680" cy="577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494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75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Industrial Applications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1BFA2-EE69-374B-B248-C5EB3C1C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984" y="1363178"/>
            <a:ext cx="10058400" cy="454152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Arial"/>
                <a:cs typeface="Arial"/>
              </a:rPr>
              <a:t>  Disaster Management &amp; Search and Rescue (SAR)</a:t>
            </a:r>
            <a:r>
              <a:rPr lang="en-US" sz="2200" dirty="0">
                <a:latin typeface="Arial"/>
                <a:cs typeface="Arial"/>
              </a:rPr>
              <a:t> </a:t>
            </a:r>
            <a:endParaRPr lang="en-US" b="1" dirty="0"/>
          </a:p>
          <a:p>
            <a:pPr lvl="1">
              <a:buClr>
                <a:srgbClr val="262626"/>
              </a:buClr>
            </a:pPr>
            <a:r>
              <a:rPr lang="en-US" sz="1900" dirty="0">
                <a:latin typeface="Arial"/>
                <a:cs typeface="Arial"/>
              </a:rPr>
              <a:t>Rapid victim detection in floods, earthquakes, and collapsed structures </a:t>
            </a:r>
          </a:p>
          <a:p>
            <a:pPr marL="0" indent="0">
              <a:buClr>
                <a:srgbClr val="262626"/>
              </a:buClr>
              <a:buNone/>
            </a:pPr>
            <a:r>
              <a:rPr lang="en-US" sz="2200" b="1" dirty="0">
                <a:latin typeface="Arial"/>
                <a:cs typeface="Arial"/>
              </a:rPr>
              <a:t> Smart Surveillance Systems</a:t>
            </a:r>
            <a:r>
              <a:rPr lang="en-US" sz="2200" dirty="0">
                <a:latin typeface="Arial"/>
                <a:cs typeface="Arial"/>
              </a:rPr>
              <a:t> </a:t>
            </a:r>
          </a:p>
          <a:p>
            <a:pPr lvl="1">
              <a:buClr>
                <a:srgbClr val="262626"/>
              </a:buClr>
            </a:pPr>
            <a:r>
              <a:rPr lang="en-US" sz="1900" dirty="0">
                <a:latin typeface="Arial"/>
                <a:cs typeface="Arial"/>
              </a:rPr>
              <a:t>Autonomous monitoring in hazardous or inaccessible environments </a:t>
            </a:r>
          </a:p>
          <a:p>
            <a:pPr marL="0" indent="0">
              <a:buClr>
                <a:srgbClr val="262626"/>
              </a:buClr>
              <a:buNone/>
            </a:pPr>
            <a:r>
              <a:rPr lang="en-US" sz="2200" b="1" dirty="0">
                <a:latin typeface="Arial"/>
                <a:cs typeface="Arial"/>
              </a:rPr>
              <a:t> Defense &amp; Security</a:t>
            </a:r>
            <a:r>
              <a:rPr lang="en-US" sz="2200" dirty="0">
                <a:latin typeface="Arial"/>
                <a:cs typeface="Arial"/>
              </a:rPr>
              <a:t> </a:t>
            </a:r>
          </a:p>
          <a:p>
            <a:pPr lvl="1">
              <a:buClr>
                <a:srgbClr val="262626"/>
              </a:buClr>
            </a:pPr>
            <a:r>
              <a:rPr lang="en-US" sz="1900" dirty="0">
                <a:latin typeface="Arial"/>
                <a:cs typeface="Arial"/>
              </a:rPr>
              <a:t>Border surveillance and reconnaissance in GPS-denied zones </a:t>
            </a:r>
          </a:p>
          <a:p>
            <a:pPr marL="0" indent="0">
              <a:buClr>
                <a:srgbClr val="262626"/>
              </a:buClr>
              <a:buNone/>
            </a:pPr>
            <a:r>
              <a:rPr lang="en-US" sz="2200" b="1" dirty="0">
                <a:latin typeface="Arial"/>
                <a:cs typeface="Arial"/>
              </a:rPr>
              <a:t> Industrial Inspection</a:t>
            </a:r>
            <a:r>
              <a:rPr lang="en-US" sz="2200" dirty="0">
                <a:latin typeface="Arial"/>
                <a:cs typeface="Arial"/>
              </a:rPr>
              <a:t> </a:t>
            </a:r>
          </a:p>
          <a:p>
            <a:pPr lvl="1">
              <a:buClr>
                <a:srgbClr val="262626"/>
              </a:buClr>
            </a:pPr>
            <a:r>
              <a:rPr lang="en-US" sz="1900" dirty="0">
                <a:latin typeface="Arial"/>
                <a:cs typeface="Arial"/>
              </a:rPr>
              <a:t>Monitoring of factories, warehouses, and offshore facilities </a:t>
            </a:r>
          </a:p>
          <a:p>
            <a:pPr marL="0" indent="0">
              <a:buClr>
                <a:srgbClr val="262626"/>
              </a:buClr>
              <a:buNone/>
            </a:pPr>
            <a:r>
              <a:rPr lang="en-US" sz="2200" b="1" dirty="0">
                <a:latin typeface="Arial"/>
                <a:cs typeface="Arial"/>
              </a:rPr>
              <a:t> Agriculture &amp; Environmental Monitoring</a:t>
            </a:r>
            <a:r>
              <a:rPr lang="en-US" sz="2200" dirty="0">
                <a:latin typeface="Arial"/>
                <a:cs typeface="Arial"/>
              </a:rPr>
              <a:t> </a:t>
            </a:r>
          </a:p>
          <a:p>
            <a:pPr lvl="1">
              <a:buClr>
                <a:srgbClr val="262626"/>
              </a:buClr>
            </a:pPr>
            <a:r>
              <a:rPr lang="en-US" sz="1900" dirty="0">
                <a:latin typeface="Arial"/>
                <a:cs typeface="Arial"/>
              </a:rPr>
              <a:t>Flood assessment, damage analysis, and resource mapping </a:t>
            </a:r>
          </a:p>
          <a:p>
            <a:pPr marL="0" indent="0">
              <a:buClr>
                <a:srgbClr val="262626"/>
              </a:buClr>
              <a:buNone/>
            </a:pPr>
            <a:r>
              <a:rPr lang="en-US" sz="2200" b="1" dirty="0">
                <a:latin typeface="Arial"/>
                <a:cs typeface="Arial"/>
              </a:rPr>
              <a:t> Swarm Robotics Applications</a:t>
            </a:r>
            <a:r>
              <a:rPr lang="en-US" sz="2200" dirty="0">
                <a:latin typeface="Arial"/>
                <a:cs typeface="Arial"/>
              </a:rPr>
              <a:t> </a:t>
            </a:r>
          </a:p>
          <a:p>
            <a:pPr lvl="1">
              <a:buClr>
                <a:srgbClr val="262626"/>
              </a:buClr>
            </a:pPr>
            <a:r>
              <a:rPr lang="en-US" sz="1900" dirty="0">
                <a:latin typeface="Arial"/>
                <a:cs typeface="Arial"/>
              </a:rPr>
              <a:t>Scalable multi-drone systems for large-area coverage using Swarm Robotics</a:t>
            </a:r>
          </a:p>
          <a:p>
            <a:pPr>
              <a:buClr>
                <a:srgbClr val="262626"/>
              </a:buClr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11</a:t>
            </a:fld>
            <a:endParaRPr lang="en-BD"/>
          </a:p>
        </p:txBody>
      </p:sp>
      <p:sp>
        <p:nvSpPr>
          <p:cNvPr id="4" name="Date Placeholder 5">
            <a:extLst>
              <a:ext uri="{FF2B5EF4-FFF2-40B4-BE49-F238E27FC236}">
                <a16:creationId xmlns:a16="http://schemas.microsoft.com/office/drawing/2014/main" id="{D779742B-7669-56FC-A8CD-77EF34DE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 dirty="0"/>
              <a:t>EEE 404 (2026) – Final Project Group 4</a:t>
            </a:r>
            <a:endParaRPr lang="en-BD" dirty="0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8AF94A1E-2EEC-1C6A-AD51-8343BC873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en-US" dirty="0"/>
              <a:t>HIVE-R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642175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E8F0B-341E-A2B6-579A-850360FBB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80AF8-182B-7A16-05DF-8E8E3CDC0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Future Works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1AF03-C9F6-8C76-6330-E8EDDBA44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50" y="1188744"/>
            <a:ext cx="10067581" cy="462414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Clr>
                <a:prstClr val="black">
                  <a:lumMod val="85000"/>
                  <a:lumOff val="15000"/>
                </a:prstClr>
              </a:buClr>
              <a:buNone/>
            </a:pPr>
            <a:r>
              <a:rPr lang="en-US" sz="1200" b="1" dirty="0">
                <a:latin typeface="Arial"/>
                <a:cs typeface="Arial"/>
              </a:rPr>
              <a:t>  </a:t>
            </a:r>
            <a:r>
              <a:rPr lang="en-US" sz="1600" b="1" dirty="0">
                <a:latin typeface="Arial"/>
                <a:cs typeface="Arial"/>
              </a:rPr>
              <a:t>Swarm Coordination Enhancement</a:t>
            </a:r>
            <a:r>
              <a:rPr lang="en-US" sz="1600" dirty="0">
                <a:latin typeface="Arial"/>
                <a:cs typeface="Arial"/>
              </a:rPr>
              <a:t> </a:t>
            </a:r>
            <a:endParaRPr lang="en-US" sz="1600" dirty="0"/>
          </a:p>
          <a:p>
            <a:pPr marL="742950" lvl="1" indent="-285750">
              <a:buClr>
                <a:srgbClr val="262626"/>
              </a:buClr>
            </a:pPr>
            <a:r>
              <a:rPr lang="en-US" sz="1400" dirty="0">
                <a:latin typeface="Arial"/>
                <a:cs typeface="Arial"/>
              </a:rPr>
              <a:t>Advanced </a:t>
            </a:r>
            <a:r>
              <a:rPr lang="en-US" sz="1600" dirty="0">
                <a:latin typeface="Arial"/>
                <a:cs typeface="Arial"/>
              </a:rPr>
              <a:t>inter-drone communication </a:t>
            </a:r>
            <a:r>
              <a:rPr lang="en-US" sz="1400" dirty="0">
                <a:latin typeface="Arial"/>
                <a:cs typeface="Arial"/>
              </a:rPr>
              <a:t>and </a:t>
            </a:r>
            <a:r>
              <a:rPr lang="en-US" sz="1600" dirty="0">
                <a:latin typeface="Arial"/>
                <a:cs typeface="Arial"/>
              </a:rPr>
              <a:t>collaborative mapping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latin typeface="Arial"/>
                <a:cs typeface="Arial"/>
              </a:rPr>
              <a:t>   Improved Localization</a:t>
            </a:r>
            <a:r>
              <a:rPr lang="en-US" sz="1600" dirty="0">
                <a:latin typeface="Arial"/>
                <a:cs typeface="Arial"/>
              </a:rPr>
              <a:t> </a:t>
            </a:r>
            <a:endParaRPr lang="en-US" sz="1600" dirty="0"/>
          </a:p>
          <a:p>
            <a:pPr marL="742950" lvl="1" indent="-285750">
              <a:buClr>
                <a:srgbClr val="262626"/>
              </a:buClr>
            </a:pPr>
            <a:r>
              <a:rPr lang="en-US" sz="1400" dirty="0">
                <a:latin typeface="Arial"/>
                <a:cs typeface="Arial"/>
              </a:rPr>
              <a:t>Integration of </a:t>
            </a:r>
            <a:r>
              <a:rPr lang="en-US" sz="1400" b="1" dirty="0">
                <a:latin typeface="Arial"/>
                <a:cs typeface="Arial"/>
              </a:rPr>
              <a:t>Sensor Fusion</a:t>
            </a:r>
            <a:r>
              <a:rPr lang="en-US" sz="1400" dirty="0">
                <a:latin typeface="Arial"/>
                <a:cs typeface="Arial"/>
              </a:rPr>
              <a:t> (</a:t>
            </a:r>
            <a:r>
              <a:rPr lang="en-US" sz="1600" dirty="0">
                <a:latin typeface="Arial"/>
                <a:cs typeface="Arial"/>
              </a:rPr>
              <a:t>LiDAR, GPS when available</a:t>
            </a:r>
            <a:r>
              <a:rPr lang="en-US" sz="1400" dirty="0">
                <a:latin typeface="Arial"/>
                <a:cs typeface="Arial"/>
              </a:rPr>
              <a:t>) 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latin typeface="Arial"/>
                <a:cs typeface="Arial"/>
              </a:rPr>
              <a:t>   Advanced AI Models</a:t>
            </a:r>
            <a:r>
              <a:rPr lang="en-US" sz="1600" dirty="0">
                <a:latin typeface="Arial"/>
                <a:cs typeface="Arial"/>
              </a:rPr>
              <a:t> </a:t>
            </a:r>
            <a:endParaRPr lang="en-US" sz="1600" dirty="0"/>
          </a:p>
          <a:p>
            <a:pPr marL="742950" lvl="1" indent="-285750">
              <a:buClr>
                <a:srgbClr val="262626"/>
              </a:buClr>
            </a:pPr>
            <a:r>
              <a:rPr lang="en-US" sz="1600" dirty="0">
                <a:latin typeface="Arial"/>
                <a:cs typeface="Arial"/>
              </a:rPr>
              <a:t>More accurate detection </a:t>
            </a:r>
            <a:r>
              <a:rPr lang="en-US" sz="1400" dirty="0">
                <a:latin typeface="Arial"/>
                <a:cs typeface="Arial"/>
              </a:rPr>
              <a:t>using improved </a:t>
            </a:r>
            <a:r>
              <a:rPr lang="en-US" sz="1600" dirty="0">
                <a:latin typeface="Arial"/>
                <a:cs typeface="Arial"/>
              </a:rPr>
              <a:t>deep learning architectures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latin typeface="Arial"/>
                <a:cs typeface="Arial"/>
              </a:rPr>
              <a:t>   Real-Time Path Optimization</a:t>
            </a:r>
            <a:r>
              <a:rPr lang="en-US" sz="1600" dirty="0">
                <a:latin typeface="Arial"/>
                <a:cs typeface="Arial"/>
              </a:rPr>
              <a:t> </a:t>
            </a:r>
            <a:endParaRPr lang="en-US" sz="1600" dirty="0"/>
          </a:p>
          <a:p>
            <a:pPr marL="742950" lvl="1" indent="-285750">
              <a:buClr>
                <a:srgbClr val="262626"/>
              </a:buClr>
            </a:pPr>
            <a:r>
              <a:rPr lang="en-US" sz="1400" dirty="0">
                <a:latin typeface="Arial"/>
                <a:cs typeface="Arial"/>
              </a:rPr>
              <a:t>Smarter exploration </a:t>
            </a:r>
            <a:r>
              <a:rPr lang="en-US" sz="1600" dirty="0">
                <a:latin typeface="Arial"/>
                <a:cs typeface="Arial"/>
              </a:rPr>
              <a:t>and faster area coverage </a:t>
            </a:r>
            <a:endParaRPr lang="en-US" sz="1600" dirty="0"/>
          </a:p>
          <a:p>
            <a:pPr marL="0" indent="0">
              <a:buClr>
                <a:srgbClr val="262626"/>
              </a:buClr>
              <a:buNone/>
            </a:pPr>
            <a:r>
              <a:rPr lang="en-US" sz="1600" b="1" dirty="0">
                <a:latin typeface="Arial"/>
                <a:cs typeface="Arial"/>
              </a:rPr>
              <a:t>   Autonomous Rescue Assistance</a:t>
            </a:r>
            <a:r>
              <a:rPr lang="en-US" sz="1600" dirty="0">
                <a:latin typeface="Arial"/>
                <a:cs typeface="Arial"/>
              </a:rPr>
              <a:t> </a:t>
            </a:r>
            <a:endParaRPr lang="en-US" sz="1600" dirty="0"/>
          </a:p>
          <a:p>
            <a:pPr marL="742950" lvl="1" indent="-285750">
              <a:buClr>
                <a:srgbClr val="262626"/>
              </a:buClr>
            </a:pPr>
            <a:r>
              <a:rPr lang="en-US" sz="1600" dirty="0">
                <a:latin typeface="Arial"/>
                <a:cs typeface="Arial"/>
              </a:rPr>
              <a:t>Payload </a:t>
            </a:r>
            <a:r>
              <a:rPr lang="en-US" sz="1400" dirty="0">
                <a:latin typeface="Arial"/>
                <a:cs typeface="Arial"/>
              </a:rPr>
              <a:t>delivery (food</a:t>
            </a:r>
            <a:r>
              <a:rPr lang="en-US" sz="1600" dirty="0">
                <a:latin typeface="Arial"/>
                <a:cs typeface="Arial"/>
              </a:rPr>
              <a:t>, </a:t>
            </a:r>
            <a:r>
              <a:rPr lang="en-US" sz="1400" dirty="0">
                <a:latin typeface="Arial"/>
                <a:cs typeface="Arial"/>
              </a:rPr>
              <a:t>medicine</a:t>
            </a:r>
            <a:r>
              <a:rPr lang="en-US" sz="1600" dirty="0">
                <a:latin typeface="Arial"/>
                <a:cs typeface="Arial"/>
              </a:rPr>
              <a:t>, </a:t>
            </a:r>
            <a:r>
              <a:rPr lang="en-US" sz="1400" dirty="0">
                <a:latin typeface="Arial"/>
                <a:cs typeface="Arial"/>
              </a:rPr>
              <a:t>communication devices</a:t>
            </a:r>
            <a:r>
              <a:rPr lang="en-US" sz="1600" dirty="0">
                <a:latin typeface="Arial"/>
                <a:cs typeface="Arial"/>
              </a:rPr>
              <a:t>) </a:t>
            </a:r>
            <a:endParaRPr lang="en-US" sz="1600" dirty="0"/>
          </a:p>
          <a:p>
            <a:pPr marL="0" indent="0">
              <a:buClr>
                <a:srgbClr val="262626"/>
              </a:buClr>
              <a:buNone/>
            </a:pPr>
            <a:r>
              <a:rPr lang="en-US" sz="1600" b="1" dirty="0">
                <a:latin typeface="Arial"/>
                <a:cs typeface="Arial"/>
              </a:rPr>
              <a:t>   Cloud &amp; Edge Integration</a:t>
            </a:r>
            <a:r>
              <a:rPr lang="en-US" sz="1600" dirty="0">
                <a:latin typeface="Arial"/>
                <a:cs typeface="Arial"/>
              </a:rPr>
              <a:t> </a:t>
            </a:r>
            <a:endParaRPr lang="en-US" sz="1600" dirty="0"/>
          </a:p>
          <a:p>
            <a:pPr marL="742950" lvl="1" indent="-285750">
              <a:buClr>
                <a:srgbClr val="262626"/>
              </a:buClr>
            </a:pPr>
            <a:r>
              <a:rPr lang="en-US" sz="1600" dirty="0">
                <a:latin typeface="Arial"/>
                <a:cs typeface="Arial"/>
              </a:rPr>
              <a:t>Real-time data sharing and </a:t>
            </a:r>
            <a:r>
              <a:rPr lang="en-US" sz="1400" dirty="0">
                <a:latin typeface="Arial"/>
                <a:cs typeface="Arial"/>
              </a:rPr>
              <a:t>centralized mission control 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latin typeface="Arial"/>
                <a:cs typeface="Arial"/>
              </a:rPr>
              <a:t>   Energy Optimization</a:t>
            </a:r>
            <a:r>
              <a:rPr lang="en-US" sz="1600" dirty="0">
                <a:latin typeface="Arial"/>
                <a:cs typeface="Arial"/>
              </a:rPr>
              <a:t> </a:t>
            </a:r>
            <a:endParaRPr lang="en-US" sz="1600" dirty="0"/>
          </a:p>
          <a:p>
            <a:pPr marL="742950" lvl="1" indent="-285750">
              <a:buClr>
                <a:srgbClr val="262626"/>
              </a:buClr>
            </a:pPr>
            <a:r>
              <a:rPr lang="en-US" sz="1600" dirty="0">
                <a:latin typeface="Arial"/>
                <a:cs typeface="Arial"/>
              </a:rPr>
              <a:t>Longer flight time through efficient power management</a:t>
            </a:r>
            <a:endParaRPr lang="en-US" sz="1600" dirty="0"/>
          </a:p>
          <a:p>
            <a:pPr marL="0" indent="0">
              <a:buNone/>
            </a:pPr>
            <a:endParaRPr lang="en-US" sz="1600" b="1" dirty="0">
              <a:latin typeface="Arial"/>
              <a:cs typeface="Arial"/>
            </a:endParaRPr>
          </a:p>
          <a:p>
            <a:pPr>
              <a:buClr>
                <a:srgbClr val="262626"/>
              </a:buClr>
            </a:pPr>
            <a:endParaRPr lang="en-US" sz="11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E52FD-3174-190B-E80D-8A6DB887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12</a:t>
            </a:fld>
            <a:endParaRPr lang="en-BD"/>
          </a:p>
        </p:txBody>
      </p:sp>
      <p:sp>
        <p:nvSpPr>
          <p:cNvPr id="4" name="Date Placeholder 5">
            <a:extLst>
              <a:ext uri="{FF2B5EF4-FFF2-40B4-BE49-F238E27FC236}">
                <a16:creationId xmlns:a16="http://schemas.microsoft.com/office/drawing/2014/main" id="{279DA2FE-B58F-F402-F190-6F422430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 dirty="0"/>
              <a:t>EEE 404 (2026) – Final Project Group 4</a:t>
            </a:r>
            <a:endParaRPr lang="en-BD" dirty="0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740F6A65-1962-B870-0566-A508677E7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en-US" dirty="0"/>
              <a:t>HIVE-R</a:t>
            </a: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1596092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{05D23346-88B9-1E48-85E6-2D29E7791F05}tf10001067</Template>
  <TotalTime>312</TotalTime>
  <Words>920</Words>
  <Application>Microsoft Office PowerPoint</Application>
  <PresentationFormat>Widescreen</PresentationFormat>
  <Paragraphs>153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Black</vt:lpstr>
      <vt:lpstr>Arial Narrow</vt:lpstr>
      <vt:lpstr>Calibri</vt:lpstr>
      <vt:lpstr>Century Gothic</vt:lpstr>
      <vt:lpstr>Garamond</vt:lpstr>
      <vt:lpstr>Wingdings</vt:lpstr>
      <vt:lpstr>Savon</vt:lpstr>
      <vt:lpstr>HIVE-R: Bio-Inspired Swarm Drone System for Human Detection in GPS-Denied Rescue Environments </vt:lpstr>
      <vt:lpstr>Outline</vt:lpstr>
      <vt:lpstr>Overview</vt:lpstr>
      <vt:lpstr>Workflow</vt:lpstr>
      <vt:lpstr>Design</vt:lpstr>
      <vt:lpstr>SLAM Algorithm</vt:lpstr>
      <vt:lpstr>Human Detection Model:</vt:lpstr>
      <vt:lpstr>Results:</vt:lpstr>
      <vt:lpstr>Results:</vt:lpstr>
      <vt:lpstr>Demo:</vt:lpstr>
      <vt:lpstr>Industrial Applications</vt:lpstr>
      <vt:lpstr>Future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Sajid Muhaimin Choudhury</dc:creator>
  <cp:lastModifiedBy>fahim rahman</cp:lastModifiedBy>
  <cp:revision>379</cp:revision>
  <cp:lastPrinted>2023-06-08T10:53:35Z</cp:lastPrinted>
  <dcterms:created xsi:type="dcterms:W3CDTF">2021-07-11T09:27:00Z</dcterms:created>
  <dcterms:modified xsi:type="dcterms:W3CDTF">2026-04-04T11:39:21Z</dcterms:modified>
</cp:coreProperties>
</file>